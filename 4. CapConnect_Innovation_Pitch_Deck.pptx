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60" r:id="rId5"/>
    <p:sldId id="259" r:id="rId6"/>
    <p:sldId id="257" r:id="rId7"/>
    <p:sldId id="256" r:id="rId8"/>
    <p:sldId id="264" r:id="rId9"/>
    <p:sldId id="261" r:id="rId10"/>
    <p:sldId id="26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2F6E9E-74F4-661F-B9D1-E5A3C00DD3B2}" v="2" dt="2026-06-18T05:42:58.845"/>
    <p1510:client id="{43533AA4-8557-7228-0BDD-6966C8627C1E}" v="1" dt="2026-06-17T12:20:53.823"/>
    <p1510:client id="{5926AB99-B395-4A1C-BB24-1F37AA080EFB}" v="6" dt="2026-06-18T11:57:39.113"/>
    <p1510:client id="{9D82F31A-83A2-75FB-83CE-7A04175F395A}" v="4" dt="2026-06-18T10:38:07.7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18"/>
  </p:normalViewPr>
  <p:slideViewPr>
    <p:cSldViewPr snapToGrid="0">
      <p:cViewPr varScale="1">
        <p:scale>
          <a:sx n="93" d="100"/>
          <a:sy n="93" d="100"/>
        </p:scale>
        <p:origin x="71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pi Daggumilli" userId="S::g.d@f5.com::8c25eccb-ee4b-4609-8b4b-d8b5a8015c14" providerId="AD" clId="Web-{43533AA4-8557-7228-0BDD-6966C8627C1E}"/>
    <pc:docChg chg="delSld">
      <pc:chgData name="Gopi Daggumilli" userId="S::g.d@f5.com::8c25eccb-ee4b-4609-8b4b-d8b5a8015c14" providerId="AD" clId="Web-{43533AA4-8557-7228-0BDD-6966C8627C1E}" dt="2026-06-17T12:20:53.823" v="0"/>
      <pc:docMkLst>
        <pc:docMk/>
      </pc:docMkLst>
    </pc:docChg>
  </pc:docChgLst>
  <pc:docChgLst>
    <pc:chgData name="Prashant S" userId="S::p.singhal@f5.com::d7dbcd64-80f6-42b3-bcb0-3e7087ee90f9" providerId="AD" clId="Web-{9D82F31A-83A2-75FB-83CE-7A04175F395A}"/>
    <pc:docChg chg="sldOrd">
      <pc:chgData name="Prashant S" userId="S::p.singhal@f5.com::d7dbcd64-80f6-42b3-bcb0-3e7087ee90f9" providerId="AD" clId="Web-{9D82F31A-83A2-75FB-83CE-7A04175F395A}" dt="2026-06-18T10:38:07.757" v="3"/>
      <pc:docMkLst>
        <pc:docMk/>
      </pc:docMkLst>
      <pc:sldChg chg="ord">
        <pc:chgData name="Prashant S" userId="S::p.singhal@f5.com::d7dbcd64-80f6-42b3-bcb0-3e7087ee90f9" providerId="AD" clId="Web-{9D82F31A-83A2-75FB-83CE-7A04175F395A}" dt="2026-06-18T10:38:07.757" v="3"/>
        <pc:sldMkLst>
          <pc:docMk/>
          <pc:sldMk cId="0" sldId="261"/>
        </pc:sldMkLst>
      </pc:sldChg>
      <pc:sldChg chg="ord">
        <pc:chgData name="Prashant S" userId="S::p.singhal@f5.com::d7dbcd64-80f6-42b3-bcb0-3e7087ee90f9" providerId="AD" clId="Web-{9D82F31A-83A2-75FB-83CE-7A04175F395A}" dt="2026-06-18T10:37:59.584" v="2"/>
        <pc:sldMkLst>
          <pc:docMk/>
          <pc:sldMk cId="0" sldId="262"/>
        </pc:sldMkLst>
      </pc:sldChg>
      <pc:sldChg chg="ord">
        <pc:chgData name="Prashant S" userId="S::p.singhal@f5.com::d7dbcd64-80f6-42b3-bcb0-3e7087ee90f9" providerId="AD" clId="Web-{9D82F31A-83A2-75FB-83CE-7A04175F395A}" dt="2026-06-18T10:36:57.738" v="0"/>
        <pc:sldMkLst>
          <pc:docMk/>
          <pc:sldMk cId="0" sldId="263"/>
        </pc:sldMkLst>
      </pc:sldChg>
    </pc:docChg>
  </pc:docChgLst>
  <pc:docChgLst>
    <pc:chgData name="Gopi Daggumilli" userId="8c25eccb-ee4b-4609-8b4b-d8b5a8015c14" providerId="ADAL" clId="{ACB7F8A5-E2D8-46FC-BA6C-1E95EEB74569}"/>
    <pc:docChg chg="undo custSel addSld delSld modSld sldOrd">
      <pc:chgData name="Gopi Daggumilli" userId="8c25eccb-ee4b-4609-8b4b-d8b5a8015c14" providerId="ADAL" clId="{ACB7F8A5-E2D8-46FC-BA6C-1E95EEB74569}" dt="2026-06-18T11:57:39.113" v="299"/>
      <pc:docMkLst>
        <pc:docMk/>
      </pc:docMkLst>
      <pc:sldChg chg="addSp delSp modSp new mod setBg addAnim delAnim">
        <pc:chgData name="Gopi Daggumilli" userId="8c25eccb-ee4b-4609-8b4b-d8b5a8015c14" providerId="ADAL" clId="{ACB7F8A5-E2D8-46FC-BA6C-1E95EEB74569}" dt="2026-06-17T11:07:01.862" v="160" actId="207"/>
        <pc:sldMkLst>
          <pc:docMk/>
          <pc:sldMk cId="3745229744" sldId="256"/>
        </pc:sldMkLst>
        <pc:spChg chg="mod">
          <ac:chgData name="Gopi Daggumilli" userId="8c25eccb-ee4b-4609-8b4b-d8b5a8015c14" providerId="ADAL" clId="{ACB7F8A5-E2D8-46FC-BA6C-1E95EEB74569}" dt="2026-06-17T11:07:01.862" v="160" actId="207"/>
          <ac:spMkLst>
            <pc:docMk/>
            <pc:sldMk cId="3745229744" sldId="256"/>
            <ac:spMk id="2" creationId="{13263412-5140-901F-0BAD-9913E8D19847}"/>
          </ac:spMkLst>
        </pc:spChg>
        <pc:spChg chg="add">
          <ac:chgData name="Gopi Daggumilli" userId="8c25eccb-ee4b-4609-8b4b-d8b5a8015c14" providerId="ADAL" clId="{ACB7F8A5-E2D8-46FC-BA6C-1E95EEB74569}" dt="2026-06-17T11:06:30.153" v="157" actId="26606"/>
          <ac:spMkLst>
            <pc:docMk/>
            <pc:sldMk cId="3745229744" sldId="256"/>
            <ac:spMk id="19" creationId="{1707FC24-6981-43D9-B525-C7832BA22463}"/>
          </ac:spMkLst>
        </pc:spChg>
        <pc:picChg chg="mod">
          <ac:chgData name="Gopi Daggumilli" userId="8c25eccb-ee4b-4609-8b4b-d8b5a8015c14" providerId="ADAL" clId="{ACB7F8A5-E2D8-46FC-BA6C-1E95EEB74569}" dt="2026-06-17T11:06:30.153" v="157" actId="26606"/>
          <ac:picMkLst>
            <pc:docMk/>
            <pc:sldMk cId="3745229744" sldId="256"/>
            <ac:picMk id="6" creationId="{484419FB-91B1-8AF1-A719-B2116D6FEEBA}"/>
          </ac:picMkLst>
        </pc:picChg>
      </pc:sldChg>
      <pc:sldChg chg="modSp add del mod ord">
        <pc:chgData name="Gopi Daggumilli" userId="8c25eccb-ee4b-4609-8b4b-d8b5a8015c14" providerId="ADAL" clId="{ACB7F8A5-E2D8-46FC-BA6C-1E95EEB74569}" dt="2026-06-17T11:34:42.727" v="228" actId="26606"/>
        <pc:sldMkLst>
          <pc:docMk/>
          <pc:sldMk cId="0" sldId="257"/>
        </pc:sldMkLst>
        <pc:spChg chg="mod">
          <ac:chgData name="Gopi Daggumilli" userId="8c25eccb-ee4b-4609-8b4b-d8b5a8015c14" providerId="ADAL" clId="{ACB7F8A5-E2D8-46FC-BA6C-1E95EEB74569}" dt="2026-06-16T08:49:06.901" v="11" actId="20577"/>
          <ac:spMkLst>
            <pc:docMk/>
            <pc:sldMk cId="0" sldId="257"/>
            <ac:spMk id="21" creationId="{00000000-0000-0000-0000-000000000000}"/>
          </ac:spMkLst>
        </pc:spChg>
        <pc:spChg chg="mod">
          <ac:chgData name="Gopi Daggumilli" userId="8c25eccb-ee4b-4609-8b4b-d8b5a8015c14" providerId="ADAL" clId="{ACB7F8A5-E2D8-46FC-BA6C-1E95EEB74569}" dt="2026-06-16T08:48:51.285" v="8" actId="20577"/>
          <ac:spMkLst>
            <pc:docMk/>
            <pc:sldMk cId="0" sldId="257"/>
            <ac:spMk id="31" creationId="{00000000-0000-0000-0000-000000000000}"/>
          </ac:spMkLst>
        </pc:spChg>
      </pc:sldChg>
      <pc:sldChg chg="addSp delSp modSp new add del mod ord">
        <pc:chgData name="Gopi Daggumilli" userId="8c25eccb-ee4b-4609-8b4b-d8b5a8015c14" providerId="ADAL" clId="{ACB7F8A5-E2D8-46FC-BA6C-1E95EEB74569}" dt="2026-06-17T11:34:42.727" v="228" actId="26606"/>
        <pc:sldMkLst>
          <pc:docMk/>
          <pc:sldMk cId="358644557" sldId="259"/>
        </pc:sldMkLst>
        <pc:spChg chg="add">
          <ac:chgData name="Gopi Daggumilli" userId="8c25eccb-ee4b-4609-8b4b-d8b5a8015c14" providerId="ADAL" clId="{ACB7F8A5-E2D8-46FC-BA6C-1E95EEB74569}" dt="2026-06-17T10:39:55.863" v="106" actId="26606"/>
          <ac:spMkLst>
            <pc:docMk/>
            <pc:sldMk cId="358644557" sldId="259"/>
            <ac:spMk id="10" creationId="{00000000-0000-0000-0000-000000000000}"/>
          </ac:spMkLst>
        </pc:spChg>
        <pc:spChg chg="add">
          <ac:chgData name="Gopi Daggumilli" userId="8c25eccb-ee4b-4609-8b4b-d8b5a8015c14" providerId="ADAL" clId="{ACB7F8A5-E2D8-46FC-BA6C-1E95EEB74569}" dt="2026-06-17T10:39:55.863" v="106" actId="26606"/>
          <ac:spMkLst>
            <pc:docMk/>
            <pc:sldMk cId="358644557" sldId="259"/>
            <ac:spMk id="11" creationId="{00000000-0000-0000-0000-000000000000}"/>
          </ac:spMkLst>
        </pc:spChg>
        <pc:spChg chg="add">
          <ac:chgData name="Gopi Daggumilli" userId="8c25eccb-ee4b-4609-8b4b-d8b5a8015c14" providerId="ADAL" clId="{ACB7F8A5-E2D8-46FC-BA6C-1E95EEB74569}" dt="2026-06-17T10:39:55.863" v="106" actId="26606"/>
          <ac:spMkLst>
            <pc:docMk/>
            <pc:sldMk cId="358644557" sldId="259"/>
            <ac:spMk id="12" creationId="{00000000-0000-0000-0000-000000000000}"/>
          </ac:spMkLst>
        </pc:spChg>
        <pc:spChg chg="add">
          <ac:chgData name="Gopi Daggumilli" userId="8c25eccb-ee4b-4609-8b4b-d8b5a8015c14" providerId="ADAL" clId="{ACB7F8A5-E2D8-46FC-BA6C-1E95EEB74569}" dt="2026-06-17T10:39:55.863" v="106" actId="26606"/>
          <ac:spMkLst>
            <pc:docMk/>
            <pc:sldMk cId="358644557" sldId="259"/>
            <ac:spMk id="20" creationId="{00000000-0000-0000-0000-000000000000}"/>
          </ac:spMkLst>
        </pc:spChg>
        <pc:spChg chg="add mod">
          <ac:chgData name="Gopi Daggumilli" userId="8c25eccb-ee4b-4609-8b4b-d8b5a8015c14" providerId="ADAL" clId="{ACB7F8A5-E2D8-46FC-BA6C-1E95EEB74569}" dt="2026-06-17T10:58:35.547" v="121" actId="26606"/>
          <ac:spMkLst>
            <pc:docMk/>
            <pc:sldMk cId="358644557" sldId="259"/>
            <ac:spMk id="22" creationId="{00000000-0000-0000-0000-000000000000}"/>
          </ac:spMkLst>
        </pc:spChg>
        <pc:spChg chg="add">
          <ac:chgData name="Gopi Daggumilli" userId="8c25eccb-ee4b-4609-8b4b-d8b5a8015c14" providerId="ADAL" clId="{ACB7F8A5-E2D8-46FC-BA6C-1E95EEB74569}" dt="2026-06-17T10:39:55.863" v="106" actId="26606"/>
          <ac:spMkLst>
            <pc:docMk/>
            <pc:sldMk cId="358644557" sldId="259"/>
            <ac:spMk id="30" creationId="{00000000-0000-0000-0000-000000000000}"/>
          </ac:spMkLst>
        </pc:spChg>
        <pc:spChg chg="add">
          <ac:chgData name="Gopi Daggumilli" userId="8c25eccb-ee4b-4609-8b4b-d8b5a8015c14" providerId="ADAL" clId="{ACB7F8A5-E2D8-46FC-BA6C-1E95EEB74569}" dt="2026-06-17T10:39:55.863" v="106" actId="26606"/>
          <ac:spMkLst>
            <pc:docMk/>
            <pc:sldMk cId="358644557" sldId="259"/>
            <ac:spMk id="31" creationId="{00000000-0000-0000-0000-000000000000}"/>
          </ac:spMkLst>
        </pc:spChg>
        <pc:spChg chg="add">
          <ac:chgData name="Gopi Daggumilli" userId="8c25eccb-ee4b-4609-8b4b-d8b5a8015c14" providerId="ADAL" clId="{ACB7F8A5-E2D8-46FC-BA6C-1E95EEB74569}" dt="2026-06-17T10:39:55.863" v="106" actId="26606"/>
          <ac:spMkLst>
            <pc:docMk/>
            <pc:sldMk cId="358644557" sldId="259"/>
            <ac:spMk id="40" creationId="{00000000-0000-0000-0000-000000000000}"/>
          </ac:spMkLst>
        </pc:spChg>
        <pc:spChg chg="add">
          <ac:chgData name="Gopi Daggumilli" userId="8c25eccb-ee4b-4609-8b4b-d8b5a8015c14" providerId="ADAL" clId="{ACB7F8A5-E2D8-46FC-BA6C-1E95EEB74569}" dt="2026-06-17T10:39:55.863" v="106" actId="26606"/>
          <ac:spMkLst>
            <pc:docMk/>
            <pc:sldMk cId="358644557" sldId="259"/>
            <ac:spMk id="41" creationId="{00000000-0000-0000-0000-000000000000}"/>
          </ac:spMkLst>
        </pc:spChg>
        <pc:graphicFrameChg chg="add">
          <ac:chgData name="Gopi Daggumilli" userId="8c25eccb-ee4b-4609-8b4b-d8b5a8015c14" providerId="ADAL" clId="{ACB7F8A5-E2D8-46FC-BA6C-1E95EEB74569}" dt="2026-06-17T10:39:55.863" v="106" actId="26606"/>
          <ac:graphicFrameMkLst>
            <pc:docMk/>
            <pc:sldMk cId="358644557" sldId="259"/>
            <ac:graphicFrameMk id="21" creationId="{00000000-0000-0000-0000-000000000000}"/>
          </ac:graphicFrameMkLst>
        </pc:graphicFrameChg>
      </pc:sldChg>
      <pc:sldChg chg="modSp add del mod ord">
        <pc:chgData name="Gopi Daggumilli" userId="8c25eccb-ee4b-4609-8b4b-d8b5a8015c14" providerId="ADAL" clId="{ACB7F8A5-E2D8-46FC-BA6C-1E95EEB74569}" dt="2026-06-17T11:34:42.727" v="228" actId="26606"/>
        <pc:sldMkLst>
          <pc:docMk/>
          <pc:sldMk cId="0" sldId="260"/>
        </pc:sldMkLst>
        <pc:spChg chg="mod">
          <ac:chgData name="Gopi Daggumilli" userId="8c25eccb-ee4b-4609-8b4b-d8b5a8015c14" providerId="ADAL" clId="{ACB7F8A5-E2D8-46FC-BA6C-1E95EEB74569}" dt="2026-06-17T11:04:31.990" v="147" actId="207"/>
          <ac:spMkLst>
            <pc:docMk/>
            <pc:sldMk cId="0" sldId="260"/>
            <ac:spMk id="14" creationId="{00000000-0000-0000-0000-000000000000}"/>
          </ac:spMkLst>
        </pc:spChg>
      </pc:sldChg>
      <pc:sldChg chg="add del ord">
        <pc:chgData name="Gopi Daggumilli" userId="8c25eccb-ee4b-4609-8b4b-d8b5a8015c14" providerId="ADAL" clId="{ACB7F8A5-E2D8-46FC-BA6C-1E95EEB74569}" dt="2026-06-17T11:34:42.727" v="228" actId="26606"/>
        <pc:sldMkLst>
          <pc:docMk/>
          <pc:sldMk cId="0" sldId="261"/>
        </pc:sldMkLst>
      </pc:sldChg>
      <pc:sldChg chg="add del ord">
        <pc:chgData name="Gopi Daggumilli" userId="8c25eccb-ee4b-4609-8b4b-d8b5a8015c14" providerId="ADAL" clId="{ACB7F8A5-E2D8-46FC-BA6C-1E95EEB74569}" dt="2026-06-17T11:34:42.727" v="228" actId="26606"/>
        <pc:sldMkLst>
          <pc:docMk/>
          <pc:sldMk cId="0" sldId="262"/>
        </pc:sldMkLst>
      </pc:sldChg>
      <pc:sldChg chg="modSp add del mod modAnim">
        <pc:chgData name="Gopi Daggumilli" userId="8c25eccb-ee4b-4609-8b4b-d8b5a8015c14" providerId="ADAL" clId="{ACB7F8A5-E2D8-46FC-BA6C-1E95EEB74569}" dt="2026-06-18T11:57:39.113" v="299"/>
        <pc:sldMkLst>
          <pc:docMk/>
          <pc:sldMk cId="0" sldId="263"/>
        </pc:sldMkLst>
        <pc:spChg chg="mod">
          <ac:chgData name="Gopi Daggumilli" userId="8c25eccb-ee4b-4609-8b4b-d8b5a8015c14" providerId="ADAL" clId="{ACB7F8A5-E2D8-46FC-BA6C-1E95EEB74569}" dt="2026-06-18T11:57:39.113" v="299"/>
          <ac:spMkLst>
            <pc:docMk/>
            <pc:sldMk cId="0" sldId="263"/>
            <ac:spMk id="22" creationId="{00000000-0000-0000-0000-000000000000}"/>
          </ac:spMkLst>
        </pc:spChg>
        <pc:spChg chg="mod">
          <ac:chgData name="Gopi Daggumilli" userId="8c25eccb-ee4b-4609-8b4b-d8b5a8015c14" providerId="ADAL" clId="{ACB7F8A5-E2D8-46FC-BA6C-1E95EEB74569}" dt="2026-06-18T11:55:40.630" v="296"/>
          <ac:spMkLst>
            <pc:docMk/>
            <pc:sldMk cId="0" sldId="263"/>
            <ac:spMk id="32" creationId="{00000000-0000-0000-0000-000000000000}"/>
          </ac:spMkLst>
        </pc:spChg>
        <pc:spChg chg="mod">
          <ac:chgData name="Gopi Daggumilli" userId="8c25eccb-ee4b-4609-8b4b-d8b5a8015c14" providerId="ADAL" clId="{ACB7F8A5-E2D8-46FC-BA6C-1E95EEB74569}" dt="2026-06-17T11:30:31.837" v="227" actId="20577"/>
          <ac:spMkLst>
            <pc:docMk/>
            <pc:sldMk cId="0" sldId="263"/>
            <ac:spMk id="42" creationId="{00000000-0000-0000-0000-000000000000}"/>
          </ac:spMkLst>
        </pc:spChg>
        <pc:spChg chg="mod">
          <ac:chgData name="Gopi Daggumilli" userId="8c25eccb-ee4b-4609-8b4b-d8b5a8015c14" providerId="ADAL" clId="{ACB7F8A5-E2D8-46FC-BA6C-1E95EEB74569}" dt="2026-06-17T11:29:25.967" v="195"/>
          <ac:spMkLst>
            <pc:docMk/>
            <pc:sldMk cId="0" sldId="263"/>
            <ac:spMk id="52" creationId="{00000000-0000-0000-0000-000000000000}"/>
          </ac:spMkLst>
        </pc:spChg>
      </pc:sldChg>
      <pc:sldChg chg="addSp modSp mod">
        <pc:chgData name="Gopi Daggumilli" userId="8c25eccb-ee4b-4609-8b4b-d8b5a8015c14" providerId="ADAL" clId="{ACB7F8A5-E2D8-46FC-BA6C-1E95EEB74569}" dt="2026-06-18T05:43:44.173" v="295" actId="27614"/>
        <pc:sldMkLst>
          <pc:docMk/>
          <pc:sldMk cId="3560611339" sldId="264"/>
        </pc:sldMkLst>
        <pc:picChg chg="add mod">
          <ac:chgData name="Gopi Daggumilli" userId="8c25eccb-ee4b-4609-8b4b-d8b5a8015c14" providerId="ADAL" clId="{ACB7F8A5-E2D8-46FC-BA6C-1E95EEB74569}" dt="2026-06-18T05:43:44.173" v="295" actId="27614"/>
          <ac:picMkLst>
            <pc:docMk/>
            <pc:sldMk cId="3560611339" sldId="264"/>
            <ac:picMk id="3" creationId="{DD81706A-1873-B4F5-82B8-9DEC8B26EC5A}"/>
          </ac:picMkLst>
        </pc:picChg>
      </pc:sldChg>
    </pc:docChg>
  </pc:docChgLst>
  <pc:docChgLst>
    <pc:chgData name="Gopi Daggumilli" userId="S::g.d@f5.com::8c25eccb-ee4b-4609-8b4b-d8b5a8015c14" providerId="AD" clId="Web-{072F6E9E-74F4-661F-B9D1-E5A3C00DD3B2}"/>
    <pc:docChg chg="addSld modSld">
      <pc:chgData name="Gopi Daggumilli" userId="S::g.d@f5.com::8c25eccb-ee4b-4609-8b4b-d8b5a8015c14" providerId="AD" clId="Web-{072F6E9E-74F4-661F-B9D1-E5A3C00DD3B2}" dt="2026-06-18T05:42:58.845" v="1"/>
      <pc:docMkLst>
        <pc:docMk/>
      </pc:docMkLst>
      <pc:sldChg chg="delSp new mod modClrScheme chgLayout">
        <pc:chgData name="Gopi Daggumilli" userId="S::g.d@f5.com::8c25eccb-ee4b-4609-8b4b-d8b5a8015c14" providerId="AD" clId="Web-{072F6E9E-74F4-661F-B9D1-E5A3C00DD3B2}" dt="2026-06-18T05:42:58.845" v="1"/>
        <pc:sldMkLst>
          <pc:docMk/>
          <pc:sldMk cId="3560611339" sldId="264"/>
        </pc:sldMkLst>
        <pc:spChg chg="del">
          <ac:chgData name="Gopi Daggumilli" userId="S::g.d@f5.com::8c25eccb-ee4b-4609-8b4b-d8b5a8015c14" providerId="AD" clId="Web-{072F6E9E-74F4-661F-B9D1-E5A3C00DD3B2}" dt="2026-06-18T05:42:58.845" v="1"/>
          <ac:spMkLst>
            <pc:docMk/>
            <pc:sldMk cId="3560611339" sldId="264"/>
            <ac:spMk id="2" creationId="{8F1E9983-539C-778A-EC54-3F46ED8F884F}"/>
          </ac:spMkLst>
        </pc:spChg>
        <pc:spChg chg="del">
          <ac:chgData name="Gopi Daggumilli" userId="S::g.d@f5.com::8c25eccb-ee4b-4609-8b4b-d8b5a8015c14" providerId="AD" clId="Web-{072F6E9E-74F4-661F-B9D1-E5A3C00DD3B2}" dt="2026-06-18T05:42:58.845" v="1"/>
          <ac:spMkLst>
            <pc:docMk/>
            <pc:sldMk cId="3560611339" sldId="264"/>
            <ac:spMk id="3" creationId="{84974D03-31BD-0468-0967-92D6A9498FE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5BCD3-9853-3AFF-1AC5-479F250351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44F05E-BDE6-9112-B719-ABA368EAC7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A2B0C4-24BA-263D-33CC-73CF4EE83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3B8EA-6FDA-4C0C-833B-6E7CDBD720A2}" type="datetimeFigureOut">
              <a:rPr lang="en-IN" smtClean="0"/>
              <a:t>25/06/26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FBDCD8-E160-84A1-EE3E-E829A098D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F87D4C-9066-2968-0D43-A7C768E3F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3A18C-B603-46DC-85CF-DB97B4C1BE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3174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92719-4E16-A3F8-DF19-2711E62C7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29E67-8F77-1C67-65CC-79525D8B9B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498F6D-0808-BF98-A754-F0B6EB2FA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3B8EA-6FDA-4C0C-833B-6E7CDBD720A2}" type="datetimeFigureOut">
              <a:rPr lang="en-IN" smtClean="0"/>
              <a:t>25/06/26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1DDC3E-1B8D-3F0C-DE0C-7D76F3F1E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5A71E1-F8E6-0480-E6E9-C216709F2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3A18C-B603-46DC-85CF-DB97B4C1BE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0452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EE6CC-72BD-2834-08A8-13D2C57FC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0BE6F7-DAFC-6839-E994-03CB4A4DDA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89FE2D-8BF5-718E-6915-5398DE731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3B8EA-6FDA-4C0C-833B-6E7CDBD720A2}" type="datetimeFigureOut">
              <a:rPr lang="en-IN" smtClean="0"/>
              <a:t>25/06/26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EAAEA0-9B07-56C7-1379-6DBA87D0C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D09950-37C7-C4AE-6E2A-698E60771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3A18C-B603-46DC-85CF-DB97B4C1BE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0421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28309-3468-528D-5D69-DE4A03A36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1FEB4-C5E1-F7F7-FDE0-3EC144240F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98071D-55D5-F9F7-B829-C426596964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CE3229-096E-8D78-4F4A-BF2EF29D0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3B8EA-6FDA-4C0C-833B-6E7CDBD720A2}" type="datetimeFigureOut">
              <a:rPr lang="en-IN" smtClean="0"/>
              <a:t>25/06/26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28B42E-52A3-426D-CFB0-E5B984A52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7F1B6C-AE9D-F2B8-46CD-4523AA067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3A18C-B603-46DC-85CF-DB97B4C1BE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493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E4C18-98B9-5FA8-AAFE-86D00AE25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C7CB79-F753-4625-176F-A114E78C06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FEEA3B-E218-0F18-75DC-74A8C22BB7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454DEC-1D9D-6AF1-432F-05CBDE66B8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88C1F8-7495-7B0E-6663-319280DC14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174EAE-0B45-557A-2750-0A8AF99A7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3B8EA-6FDA-4C0C-833B-6E7CDBD720A2}" type="datetimeFigureOut">
              <a:rPr lang="en-IN" smtClean="0"/>
              <a:t>25/06/26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0DC9FF-F0EE-8475-8BF7-25600F5A6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1316E0-D3D0-65C6-2027-8E50DE06F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3A18C-B603-46DC-85CF-DB97B4C1BE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30996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E0531-5ED1-5A34-2FD8-B36C5868A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00CC94-1283-9E68-1C05-1BA380CAF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3B8EA-6FDA-4C0C-833B-6E7CDBD720A2}" type="datetimeFigureOut">
              <a:rPr lang="en-IN" smtClean="0"/>
              <a:t>25/06/26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3FA6D3-BD0E-0F41-4772-F16D9BFA5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3BDD6B-820C-9A1D-ED86-C7EC6F85F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3A18C-B603-46DC-85CF-DB97B4C1BE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6470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3BCE72-1343-0434-AE46-53847972E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3B8EA-6FDA-4C0C-833B-6E7CDBD720A2}" type="datetimeFigureOut">
              <a:rPr lang="en-IN" smtClean="0"/>
              <a:t>25/06/26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F7FDC6-DEA8-602F-3F79-65F6B4F39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AFC9FA-2815-2708-A712-8065C01A5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3A18C-B603-46DC-85CF-DB97B4C1BE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0260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F36D2-7900-FCE8-C472-71F7223B0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5176A-C4A2-6959-C0D5-E132739A6D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01856E-0208-4239-0ED7-5273959E04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29C383-7263-6CAE-2342-73C3E5C38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3B8EA-6FDA-4C0C-833B-6E7CDBD720A2}" type="datetimeFigureOut">
              <a:rPr lang="en-IN" smtClean="0"/>
              <a:t>25/06/26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11A4B4-4AE0-3F5C-AAD6-A2CAA601B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A4614A-F189-2899-551E-288A9D331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3A18C-B603-46DC-85CF-DB97B4C1BE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657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7CD15-2D71-3A8F-7F49-AFD38254E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EBEE62-D15D-BD8D-757F-0C77C72AA1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4F70F8-67A0-1117-932E-193BBCD0E5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3FF57B-7D42-7F5D-EB4D-AB5B4451B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3B8EA-6FDA-4C0C-833B-6E7CDBD720A2}" type="datetimeFigureOut">
              <a:rPr lang="en-IN" smtClean="0"/>
              <a:t>25/06/26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7085BB-8CA1-D0BC-F233-C6CEE0043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C2334B-2F8C-BBE6-3F3F-014560164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3A18C-B603-46DC-85CF-DB97B4C1BE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0956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97008-B0D8-2C7B-B80F-A2D3931F0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CA7626-45CB-87B5-3F56-FFC8CC09CA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47528C-9415-6E61-4FD9-624BD1C9D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3B8EA-6FDA-4C0C-833B-6E7CDBD720A2}" type="datetimeFigureOut">
              <a:rPr lang="en-IN" smtClean="0"/>
              <a:t>25/06/26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FB8EEE-701B-0AC6-DDB7-952B7DAD9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C42647-F83F-C9DB-52CC-8FD4A6E9F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3A18C-B603-46DC-85CF-DB97B4C1BE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7791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F22426-DE56-0776-F771-D74F7466C6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B40024-2CA4-BA6B-933A-C4FB2B0305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0BAED5-94DD-DAAA-0A0C-630511C2A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3B8EA-6FDA-4C0C-833B-6E7CDBD720A2}" type="datetimeFigureOut">
              <a:rPr lang="en-IN" smtClean="0"/>
              <a:t>25/06/26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D5189E-742E-5E8D-CB64-97722DF9E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FFEB4C-0A6B-E66D-ABF0-FA4BCEEE6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3A18C-B603-46DC-85CF-DB97B4C1BE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7009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8C8479-BD2C-EE8E-CC5A-0B182939F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545315-6BAA-4ECA-B768-74AA27EDD0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404AD6-4FD8-C6CF-90C1-C59254EC6C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33B8EA-6FDA-4C0C-833B-6E7CDBD720A2}" type="datetimeFigureOut">
              <a:rPr lang="en-IN" smtClean="0"/>
              <a:t>25/06/26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5783ED-196B-61E3-56E8-E90AEF9DF3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C70115-5908-04EC-F289-1D03A980D2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83A18C-B603-46DC-85CF-DB97B4C1BE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4612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81D"/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Accent Bar"/>
          <p:cNvSpPr/>
          <p:nvPr/>
        </p:nvSpPr>
        <p:spPr>
          <a:xfrm>
            <a:off x="600000" y="1940000"/>
            <a:ext cx="120000" cy="2320000"/>
          </a:xfrm>
          <a:prstGeom prst="rect">
            <a:avLst/>
          </a:prstGeom>
          <a:solidFill>
            <a:srgbClr val="00E5FF"/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Kicker"/>
          <p:cNvSpPr txBox="1"/>
          <p:nvPr/>
        </p:nvSpPr>
        <p:spPr>
          <a:xfrm>
            <a:off x="600000" y="430000"/>
            <a:ext cx="10992000" cy="330000"/>
          </a:xfrm>
          <a:prstGeom prst="rect">
            <a:avLst/>
          </a:prstGeom>
        </p:spPr>
        <p:txBody>
          <a:bodyPr wrap="square" lIns="0" tIns="0" rIns="0" bIns="0"/>
          <a:lstStyle/>
          <a:p>
            <a:r>
              <a:rPr lang="en-US" sz="1400" b="1" spc="320">
                <a:solidFill>
                  <a:srgbClr val="00E5FF"/>
                </a:solidFill>
              </a:rPr>
              <a:t>CAPCONNECT  |  THE PROBLEM STATEMENT</a:t>
            </a:r>
          </a:p>
        </p:txBody>
      </p:sp>
      <p:sp>
        <p:nvSpPr>
          <p:cNvPr id="12" name="Title"/>
          <p:cNvSpPr txBox="1"/>
          <p:nvPr/>
        </p:nvSpPr>
        <p:spPr>
          <a:xfrm>
            <a:off x="600000" y="780000"/>
            <a:ext cx="10992000" cy="840000"/>
          </a:xfrm>
          <a:prstGeom prst="rect">
            <a:avLst/>
          </a:prstGeom>
        </p:spPr>
        <p:txBody>
          <a:bodyPr wrap="square" lIns="0" tIns="0" rIns="0" bIns="0"/>
          <a:lstStyle/>
          <a:p>
            <a:r>
              <a:rPr lang="en-US" sz="3600" b="1">
                <a:solidFill>
                  <a:srgbClr val="F5F7FA"/>
                </a:solidFill>
              </a:rPr>
              <a:t>A Preventable Crisis Hiding in Plain Sight</a:t>
            </a:r>
          </a:p>
        </p:txBody>
      </p:sp>
      <p:sp>
        <p:nvSpPr>
          <p:cNvPr id="14" name="Problem Statement"/>
          <p:cNvSpPr txBox="1"/>
          <p:nvPr/>
        </p:nvSpPr>
        <p:spPr>
          <a:xfrm>
            <a:off x="960000" y="1940000"/>
            <a:ext cx="10632000" cy="23200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>
              <a:lnSpc>
                <a:spcPct val="124000"/>
              </a:lnSpc>
            </a:pPr>
            <a:r>
              <a:rPr lang="en-GB" sz="2200">
                <a:solidFill>
                  <a:srgbClr val="E4E8EF"/>
                </a:solidFill>
              </a:rPr>
              <a:t>In the world many elderly people and patients forget to take their medicines on time. This often leads to </a:t>
            </a:r>
            <a:r>
              <a:rPr lang="en-GB" sz="2200" b="1">
                <a:solidFill>
                  <a:srgbClr val="92D050"/>
                </a:solidFill>
              </a:rPr>
              <a:t>missed doses </a:t>
            </a:r>
            <a:r>
              <a:rPr lang="en-GB" sz="2200">
                <a:solidFill>
                  <a:srgbClr val="92D050"/>
                </a:solidFill>
              </a:rPr>
              <a:t>or </a:t>
            </a:r>
            <a:r>
              <a:rPr lang="en-GB" sz="2200" b="1">
                <a:solidFill>
                  <a:srgbClr val="92D050"/>
                </a:solidFill>
              </a:rPr>
              <a:t>taking the same medicine twice</a:t>
            </a:r>
            <a:r>
              <a:rPr lang="en-GB" sz="2200">
                <a:solidFill>
                  <a:srgbClr val="E4E8EF"/>
                </a:solidFill>
              </a:rPr>
              <a:t>. As a result, a large number of </a:t>
            </a:r>
            <a:r>
              <a:rPr lang="en-GB" sz="2200" b="1">
                <a:solidFill>
                  <a:srgbClr val="92D050"/>
                </a:solidFill>
              </a:rPr>
              <a:t>people face avoidable health problems</a:t>
            </a:r>
            <a:r>
              <a:rPr lang="en-GB" sz="2200">
                <a:solidFill>
                  <a:srgbClr val="E4E8EF"/>
                </a:solidFill>
              </a:rPr>
              <a:t>, hospital visits, and added medical costs for families and the healthcare system.</a:t>
            </a:r>
            <a:endParaRPr lang="en-US" sz="2200">
              <a:solidFill>
                <a:srgbClr val="E4E8EF"/>
              </a:solidFill>
            </a:endParaRPr>
          </a:p>
        </p:txBody>
      </p:sp>
      <p:sp>
        <p:nvSpPr>
          <p:cNvPr id="30" name="Stat Forget"/>
          <p:cNvSpPr txBox="1"/>
          <p:nvPr/>
        </p:nvSpPr>
        <p:spPr>
          <a:xfrm>
            <a:off x="600000" y="4720000"/>
            <a:ext cx="3464000" cy="1500000"/>
          </a:xfrm>
          <a:prstGeom prst="rect">
            <a:avLst/>
          </a:prstGeom>
        </p:spPr>
        <p:txBody>
          <a:bodyPr wrap="square" lIns="0" tIns="0" rIns="0" bIns="0"/>
          <a:lstStyle/>
          <a:p>
            <a:pPr>
              <a:lnSpc>
                <a:spcPct val="90000"/>
              </a:lnSpc>
              <a:spcAft>
                <a:spcPts val="400"/>
              </a:spcAft>
            </a:pPr>
            <a:r>
              <a:rPr lang="en-US" sz="4000" b="1">
                <a:solidFill>
                  <a:srgbClr val="C6FF00"/>
                </a:solidFill>
              </a:rPr>
              <a:t>50%+</a:t>
            </a:r>
          </a:p>
          <a:p>
            <a:pPr>
              <a:lnSpc>
                <a:spcPct val="110000"/>
              </a:lnSpc>
            </a:pPr>
            <a:r>
              <a:rPr lang="en-US" sz="1400">
                <a:solidFill>
                  <a:srgbClr val="AEB6C4"/>
                </a:solidFill>
              </a:rPr>
              <a:t>of patients forget to take their medication as prescribed.</a:t>
            </a:r>
          </a:p>
        </p:txBody>
      </p:sp>
      <p:sp>
        <p:nvSpPr>
          <p:cNvPr id="31" name="Stat Hospital"/>
          <p:cNvSpPr txBox="1"/>
          <p:nvPr/>
        </p:nvSpPr>
        <p:spPr>
          <a:xfrm>
            <a:off x="4364000" y="4720000"/>
            <a:ext cx="3464000" cy="1500000"/>
          </a:xfrm>
          <a:prstGeom prst="rect">
            <a:avLst/>
          </a:prstGeom>
        </p:spPr>
        <p:txBody>
          <a:bodyPr wrap="square" lIns="0" tIns="0" rIns="0" bIns="0"/>
          <a:lstStyle/>
          <a:p>
            <a:pPr>
              <a:lnSpc>
                <a:spcPct val="90000"/>
              </a:lnSpc>
              <a:spcAft>
                <a:spcPts val="400"/>
              </a:spcAft>
            </a:pPr>
            <a:r>
              <a:rPr lang="en-US" sz="4000" b="1">
                <a:solidFill>
                  <a:srgbClr val="C6FF00"/>
                </a:solidFill>
              </a:rPr>
              <a:t>100,000s</a:t>
            </a:r>
          </a:p>
          <a:p>
            <a:pPr>
              <a:lnSpc>
                <a:spcPct val="110000"/>
              </a:lnSpc>
            </a:pPr>
            <a:r>
              <a:rPr lang="en-US" sz="1400">
                <a:solidFill>
                  <a:srgbClr val="AEB6C4"/>
                </a:solidFill>
              </a:rPr>
              <a:t>of preventable hospitalizations every year.</a:t>
            </a:r>
          </a:p>
        </p:txBody>
      </p:sp>
      <p:sp>
        <p:nvSpPr>
          <p:cNvPr id="32" name="Stat Cost"/>
          <p:cNvSpPr txBox="1"/>
          <p:nvPr/>
        </p:nvSpPr>
        <p:spPr>
          <a:xfrm>
            <a:off x="8128000" y="4720000"/>
            <a:ext cx="3464000" cy="1500000"/>
          </a:xfrm>
          <a:prstGeom prst="rect">
            <a:avLst/>
          </a:prstGeom>
        </p:spPr>
        <p:txBody>
          <a:bodyPr wrap="square" lIns="0" tIns="0" rIns="0" bIns="0"/>
          <a:lstStyle/>
          <a:p>
            <a:pPr>
              <a:lnSpc>
                <a:spcPct val="90000"/>
              </a:lnSpc>
              <a:spcAft>
                <a:spcPts val="400"/>
              </a:spcAft>
            </a:pPr>
            <a:r>
              <a:rPr lang="en-US" sz="4000" b="1">
                <a:solidFill>
                  <a:srgbClr val="C6FF00"/>
                </a:solidFill>
              </a:rPr>
              <a:t>$Billions</a:t>
            </a:r>
          </a:p>
          <a:p>
            <a:pPr>
              <a:lnSpc>
                <a:spcPct val="110000"/>
              </a:lnSpc>
            </a:pPr>
            <a:r>
              <a:rPr lang="en-US" sz="1400">
                <a:solidFill>
                  <a:srgbClr val="AEB6C4"/>
                </a:solidFill>
              </a:rPr>
              <a:t>in added strain on global healthcare systems.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presetID="10" presetClass="entr" presetSubtype="0" fill="hold" nodeType="afterEffect">
                      <p:stCondLst>
                        <p:cond delay="20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6" presetID="10" presetClass="entr" presetSubtype="0" fill="hold" nodeType="afterEffect">
                      <p:stCondLst>
                        <p:cond delay="200"/>
                      </p:stCondLst>
                      <p:childTnLst>
                        <p:set>
                          <p:cBhvr>
                            <p:cTn id="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8" dur="5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9" presetID="10" presetClass="entr" presetSubtype="0" fill="hold" nodeType="afterEffect">
                      <p:stCondLst>
                        <p:cond delay="200"/>
                      </p:stCondLst>
                      <p:childTnLst>
                        <p:set>
                          <p:cBhvr>
                            <p:cTn id="1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"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  <p:par>
                    <p:cTn id="12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1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4" dur="50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15" presetID="10" presetClass="entr" presetSubtype="0" fill="hold" nodeType="afterEffect">
                      <p:stCondLst>
                        <p:cond delay="200"/>
                      </p:stCondLst>
                      <p:childTnLst>
                        <p:set>
                          <p:cBhvr>
                            <p:cTn id="1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7" dur="50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  <p:par>
                    <p:cTn id="18" presetID="10" presetClass="entr" presetSubtype="0" fill="hold" nodeType="afterEffect">
                      <p:stCondLst>
                        <p:cond delay="200"/>
                      </p:stCondLst>
                      <p:childTnLst>
                        <p:set>
                          <p:cBhvr>
                            <p:cTn id="1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0" dur="5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  <p:par>
                    <p:cTn id="21" presetID="10" presetClass="entr" presetSubtype="0" fill="hold" nodeType="afterEffect">
                      <p:stCondLst>
                        <p:cond delay="200"/>
                      </p:stCondLst>
                      <p:childTnLst>
                        <p:set>
                          <p:cBhvr>
                            <p:cTn id="2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3" dur="5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81D"/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Kicker"/>
          <p:cNvSpPr txBox="1"/>
          <p:nvPr/>
        </p:nvSpPr>
        <p:spPr>
          <a:xfrm>
            <a:off x="600000" y="430000"/>
            <a:ext cx="10992000" cy="330000"/>
          </a:xfrm>
          <a:prstGeom prst="rect">
            <a:avLst/>
          </a:prstGeom>
        </p:spPr>
        <p:txBody>
          <a:bodyPr wrap="square" lIns="0" tIns="0" rIns="0" bIns="0"/>
          <a:lstStyle/>
          <a:p>
            <a:r>
              <a:rPr lang="en-US" sz="1400" b="1" spc="320">
                <a:solidFill>
                  <a:srgbClr val="00E5FF"/>
                </a:solidFill>
              </a:rPr>
              <a:t>CAPCONNECT  |  WHY PATIENTS STOP TAKING THEIR MEDICATION</a:t>
            </a:r>
          </a:p>
        </p:txBody>
      </p:sp>
      <p:sp>
        <p:nvSpPr>
          <p:cNvPr id="12" name="Title"/>
          <p:cNvSpPr txBox="1"/>
          <p:nvPr/>
        </p:nvSpPr>
        <p:spPr>
          <a:xfrm>
            <a:off x="600000" y="780000"/>
            <a:ext cx="10992000" cy="840000"/>
          </a:xfrm>
          <a:prstGeom prst="rect">
            <a:avLst/>
          </a:prstGeom>
        </p:spPr>
        <p:txBody>
          <a:bodyPr wrap="square" lIns="0" tIns="0" rIns="0" bIns="0"/>
          <a:lstStyle/>
          <a:p>
            <a:r>
              <a:rPr lang="en-US" sz="3600" b="1">
                <a:solidFill>
                  <a:srgbClr val="F5F7FA"/>
                </a:solidFill>
              </a:rPr>
              <a:t>Medication Non-Adherence by the Numbers</a:t>
            </a:r>
          </a:p>
        </p:txBody>
      </p:sp>
      <p:sp>
        <p:nvSpPr>
          <p:cNvPr id="20" name="Table Label"/>
          <p:cNvSpPr txBox="1"/>
          <p:nvPr/>
        </p:nvSpPr>
        <p:spPr>
          <a:xfrm>
            <a:off x="600000" y="1880000"/>
            <a:ext cx="6800000" cy="300000"/>
          </a:xfrm>
          <a:prstGeom prst="rect">
            <a:avLst/>
          </a:prstGeom>
        </p:spPr>
        <p:txBody>
          <a:bodyPr wrap="square" lIns="0" tIns="0" rIns="0" bIns="0"/>
          <a:lstStyle/>
          <a:p>
            <a:r>
              <a:rPr lang="en-US" sz="1400" b="1" spc="200">
                <a:solidFill>
                  <a:srgbClr val="00E5FF"/>
                </a:solidFill>
              </a:rPr>
              <a:t>NON-ADHERENCE METRICS</a:t>
            </a:r>
          </a:p>
        </p:txBody>
      </p:sp>
      <p:graphicFrame>
        <p:nvGraphicFramePr>
          <p:cNvPr id="21" name="Metrics Table"/>
          <p:cNvGraphicFramePr/>
          <p:nvPr>
            <p:extLst>
              <p:ext uri="{D42A27DB-BD31-4B8C-83A1-F6EECF244321}">
                <p14:modId xmlns:p14="http://schemas.microsoft.com/office/powerpoint/2010/main" val="1037346328"/>
              </p:ext>
            </p:extLst>
          </p:nvPr>
        </p:nvGraphicFramePr>
        <p:xfrm>
          <a:off x="600000" y="2260000"/>
          <a:ext cx="6800000" cy="2240000"/>
        </p:xfrm>
        <a:graphic>
          <a:graphicData uri="http://schemas.openxmlformats.org/drawingml/2006/table">
            <a:tbl>
              <a:tblPr firstRow="1"/>
              <a:tblGrid>
                <a:gridCol w="2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r>
                        <a:rPr lang="en-US" sz="1200" b="1" spc="100">
                          <a:solidFill>
                            <a:srgbClr val="00E5FF"/>
                          </a:solidFill>
                        </a:rPr>
                        <a:t>Patient Cohort</a:t>
                      </a:r>
                    </a:p>
                  </a:txBody>
                  <a:tcPr marL="137160" anchor="ctr">
                    <a:solidFill>
                      <a:srgbClr val="1B1E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spc="100">
                          <a:solidFill>
                            <a:srgbClr val="00E5FF"/>
                          </a:solidFill>
                        </a:rPr>
                        <a:t>Non-Adherence Rate</a:t>
                      </a:r>
                    </a:p>
                  </a:txBody>
                  <a:tcPr anchor="ctr">
                    <a:solidFill>
                      <a:srgbClr val="1B1E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spc="100">
                          <a:solidFill>
                            <a:srgbClr val="00E5FF"/>
                          </a:solidFill>
                        </a:rPr>
                        <a:t>Primary Behavioral Driver</a:t>
                      </a:r>
                    </a:p>
                  </a:txBody>
                  <a:tcPr anchor="ctr">
                    <a:solidFill>
                      <a:srgbClr val="1B1E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0000">
                <a:tc>
                  <a:txBody>
                    <a:bodyPr/>
                    <a:lstStyle/>
                    <a:p>
                      <a:r>
                        <a:rPr lang="en-US" sz="1500" b="1">
                          <a:solidFill>
                            <a:srgbClr val="F5F7FA"/>
                          </a:solidFill>
                        </a:rPr>
                        <a:t>General Population</a:t>
                      </a:r>
                    </a:p>
                  </a:txBody>
                  <a:tcPr marL="137160" anchor="ctr">
                    <a:solidFill>
                      <a:srgbClr val="2326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>
                          <a:solidFill>
                            <a:srgbClr val="C6FF00"/>
                          </a:solidFill>
                        </a:rPr>
                        <a:t>50%</a:t>
                      </a:r>
                    </a:p>
                  </a:txBody>
                  <a:tcPr anchor="ctr">
                    <a:solidFill>
                      <a:srgbClr val="2326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AEB6C4"/>
                          </a:solidFill>
                        </a:rPr>
                        <a:t>Forgetfulness / unintentional omission</a:t>
                      </a:r>
                    </a:p>
                  </a:txBody>
                  <a:tcPr anchor="ctr">
                    <a:solidFill>
                      <a:srgbClr val="2326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0000">
                <a:tc>
                  <a:txBody>
                    <a:bodyPr/>
                    <a:lstStyle/>
                    <a:p>
                      <a:r>
                        <a:rPr lang="en-US" sz="1500" b="1">
                          <a:solidFill>
                            <a:srgbClr val="F5F7FA"/>
                          </a:solidFill>
                        </a:rPr>
                        <a:t>Elderly Population</a:t>
                      </a:r>
                    </a:p>
                  </a:txBody>
                  <a:tcPr marL="137160" anchor="ctr">
                    <a:solidFill>
                      <a:srgbClr val="1B1E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>
                          <a:solidFill>
                            <a:srgbClr val="C6FF00"/>
                          </a:solidFill>
                        </a:rPr>
                        <a:t>55%</a:t>
                      </a:r>
                    </a:p>
                  </a:txBody>
                  <a:tcPr anchor="ctr">
                    <a:solidFill>
                      <a:srgbClr val="1B1E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AEB6C4"/>
                          </a:solidFill>
                        </a:rPr>
                        <a:t>Forgetfulness / complex scheduling</a:t>
                      </a:r>
                    </a:p>
                  </a:txBody>
                  <a:tcPr anchor="ctr">
                    <a:solidFill>
                      <a:srgbClr val="1B1E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" name="Insight"/>
          <p:cNvSpPr txBox="1"/>
          <p:nvPr/>
        </p:nvSpPr>
        <p:spPr>
          <a:xfrm>
            <a:off x="600000" y="4760000"/>
            <a:ext cx="6800000" cy="1500000"/>
          </a:xfrm>
          <a:prstGeom prst="rect">
            <a:avLst/>
          </a:prstGeom>
        </p:spPr>
        <p:txBody>
          <a:bodyPr wrap="square" lIns="0" tIns="0" rIns="0" bIns="0"/>
          <a:lstStyle/>
          <a:p>
            <a:pPr>
              <a:lnSpc>
                <a:spcPct val="120000"/>
              </a:lnSpc>
            </a:pPr>
            <a:r>
              <a:rPr lang="en-US" sz="1500">
                <a:solidFill>
                  <a:srgbClr val="E4E8EF"/>
                </a:solidFill>
              </a:rPr>
              <a:t>Across every cohort, the leading reason patients stop taking their medication isn’t intent—it’s memory. Forgetfulness, compounded by complex schedules, drives non-adherence higher with age.</a:t>
            </a:r>
          </a:p>
        </p:txBody>
      </p:sp>
      <p:sp>
        <p:nvSpPr>
          <p:cNvPr id="30" name="Card Hospitalizations"/>
          <p:cNvSpPr/>
          <p:nvPr/>
        </p:nvSpPr>
        <p:spPr>
          <a:xfrm>
            <a:off x="7700000" y="1880000"/>
            <a:ext cx="3892000" cy="2090000"/>
          </a:xfrm>
          <a:prstGeom prst="roundRect">
            <a:avLst>
              <a:gd name="adj" fmla="val 4500"/>
            </a:avLst>
          </a:prstGeom>
          <a:solidFill>
            <a:srgbClr val="1B1E25"/>
          </a:solidFill>
          <a:ln w="19050">
            <a:solidFill>
              <a:srgbClr val="00E5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Hospitalizations Text"/>
          <p:cNvSpPr txBox="1"/>
          <p:nvPr/>
        </p:nvSpPr>
        <p:spPr>
          <a:xfrm>
            <a:off x="7980000" y="2160000"/>
            <a:ext cx="3332000" cy="1530000"/>
          </a:xfrm>
          <a:prstGeom prst="rect">
            <a:avLst/>
          </a:prstGeom>
        </p:spPr>
        <p:txBody>
          <a:bodyPr wrap="square" lIns="0" tIns="0" rIns="0" bIns="0"/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4000" b="1">
                <a:solidFill>
                  <a:srgbClr val="C6FF00"/>
                </a:solidFill>
              </a:rPr>
              <a:t>10–12%</a:t>
            </a:r>
          </a:p>
          <a:p>
            <a:pPr>
              <a:lnSpc>
                <a:spcPct val="112000"/>
              </a:lnSpc>
            </a:pPr>
            <a:r>
              <a:rPr lang="en-US" sz="1400">
                <a:solidFill>
                  <a:srgbClr val="AEB6C4"/>
                </a:solidFill>
              </a:rPr>
              <a:t>of patients are hospitalized annually due to adverse drug events.</a:t>
            </a:r>
          </a:p>
        </p:txBody>
      </p:sp>
      <p:sp>
        <p:nvSpPr>
          <p:cNvPr id="40" name="Card Cost"/>
          <p:cNvSpPr/>
          <p:nvPr/>
        </p:nvSpPr>
        <p:spPr>
          <a:xfrm>
            <a:off x="7700000" y="4170000"/>
            <a:ext cx="3892000" cy="2090000"/>
          </a:xfrm>
          <a:prstGeom prst="roundRect">
            <a:avLst>
              <a:gd name="adj" fmla="val 4500"/>
            </a:avLst>
          </a:prstGeom>
          <a:solidFill>
            <a:srgbClr val="23262E"/>
          </a:solidFill>
          <a:ln w="12700">
            <a:solidFill>
              <a:srgbClr val="2F344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1" name="Cost Text"/>
          <p:cNvSpPr txBox="1"/>
          <p:nvPr/>
        </p:nvSpPr>
        <p:spPr>
          <a:xfrm>
            <a:off x="7980000" y="4450000"/>
            <a:ext cx="3332000" cy="1530000"/>
          </a:xfrm>
          <a:prstGeom prst="rect">
            <a:avLst/>
          </a:prstGeom>
        </p:spPr>
        <p:txBody>
          <a:bodyPr wrap="square" lIns="0" tIns="0" rIns="0" bIns="0"/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4000" b="1">
                <a:solidFill>
                  <a:srgbClr val="C6FF00"/>
                </a:solidFill>
              </a:rPr>
              <a:t>$200–300B</a:t>
            </a:r>
          </a:p>
          <a:p>
            <a:pPr>
              <a:lnSpc>
                <a:spcPct val="112000"/>
              </a:lnSpc>
            </a:pPr>
            <a:r>
              <a:rPr lang="en-US" sz="1400">
                <a:solidFill>
                  <a:srgbClr val="AEB6C4"/>
                </a:solidFill>
              </a:rPr>
              <a:t>approximate annual cost of hospitalizations and medical care from adverse drug events.</a:t>
            </a:r>
          </a:p>
        </p:txBody>
      </p:sp>
    </p:spTree>
    <p:extLst>
      <p:ext uri="{BB962C8B-B14F-4D97-AF65-F5344CB8AC3E}">
        <p14:creationId xmlns:p14="http://schemas.microsoft.com/office/powerpoint/2010/main" val="358644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presetID="10" presetClass="entr" presetSubtype="0" fill="hold" nodeType="afterEffect">
                      <p:stCondLst>
                        <p:cond delay="20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6" presetID="10" presetClass="entr" presetSubtype="0" fill="hold" nodeType="afterEffect">
                      <p:stCondLst>
                        <p:cond delay="200"/>
                      </p:stCondLst>
                      <p:childTnLst>
                        <p:set>
                          <p:cBhvr>
                            <p:cTn id="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8" dur="5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9" presetID="10" presetClass="entr" presetSubtype="0" fill="hold" nodeType="afterEffect">
                      <p:stCondLst>
                        <p:cond delay="200"/>
                      </p:stCondLst>
                      <p:childTnLst>
                        <p:set>
                          <p:cBhvr>
                            <p:cTn id="1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"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12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1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4"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  <p:par>
                    <p:cTn id="15" presetID="10" presetClass="entr" presetSubtype="0" fill="hold" nodeType="afterEffect">
                      <p:stCondLst>
                        <p:cond delay="200"/>
                      </p:stCondLst>
                      <p:childTnLst>
                        <p:set>
                          <p:cBhvr>
                            <p:cTn id="1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7" dur="50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  <p:par>
                    <p:cTn id="18" presetID="10" presetClass="entr" presetSubtype="0" fill="hold" nodeType="afterEffect">
                      <p:stCondLst>
                        <p:cond delay="200"/>
                      </p:stCondLst>
                      <p:childTnLst>
                        <p:set>
                          <p:cBhvr>
                            <p:cTn id="1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0" dur="50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  <p:par>
                    <p:cTn id="21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2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3" dur="5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  <p:par>
                    <p:cTn id="24" presetID="10" presetClass="entr" presetSubtype="0" fill="hold" nodeType="afterEffect">
                      <p:stCondLst>
                        <p:cond delay="200"/>
                      </p:stCondLst>
                      <p:childTnLst>
                        <p:set>
                          <p:cBhvr>
                            <p:cTn id="2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6" dur="500"/>
                            <p:tgtEl>
                              <p:spTgt spid="40"/>
                            </p:tgtEl>
                          </p:cBhvr>
                        </p:animEffect>
                      </p:childTnLst>
                    </p:cTn>
                  </p:par>
                  <p:par>
                    <p:cTn id="27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2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9" dur="500"/>
                            <p:tgtEl>
                              <p:spTgt spid="41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81D"/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Kicker"/>
          <p:cNvSpPr txBox="1"/>
          <p:nvPr/>
        </p:nvSpPr>
        <p:spPr>
          <a:xfrm>
            <a:off x="600000" y="430000"/>
            <a:ext cx="10992000" cy="330000"/>
          </a:xfrm>
          <a:prstGeom prst="rect">
            <a:avLst/>
          </a:prstGeom>
        </p:spPr>
        <p:txBody>
          <a:bodyPr wrap="square" lIns="0" tIns="0" rIns="0" bIns="0"/>
          <a:lstStyle/>
          <a:p>
            <a:r>
              <a:rPr lang="en-US" sz="1400" b="1" spc="320">
                <a:solidFill>
                  <a:srgbClr val="00E5FF"/>
                </a:solidFill>
              </a:rPr>
              <a:t>CAPCONNECT  |  THE MEDICATION ADHERENCE CRISIS</a:t>
            </a:r>
          </a:p>
        </p:txBody>
      </p:sp>
      <p:sp>
        <p:nvSpPr>
          <p:cNvPr id="12" name="Title"/>
          <p:cNvSpPr txBox="1"/>
          <p:nvPr/>
        </p:nvSpPr>
        <p:spPr>
          <a:xfrm>
            <a:off x="600000" y="780000"/>
            <a:ext cx="10992000" cy="840000"/>
          </a:xfrm>
          <a:prstGeom prst="rect">
            <a:avLst/>
          </a:prstGeom>
        </p:spPr>
        <p:txBody>
          <a:bodyPr wrap="square" lIns="0" tIns="0" rIns="0" bIns="0"/>
          <a:lstStyle/>
          <a:p>
            <a:r>
              <a:rPr lang="en-US" sz="3600" b="1">
                <a:solidFill>
                  <a:srgbClr val="F5F7FA"/>
                </a:solidFill>
              </a:rPr>
              <a:t>Closing the Gap Between Memory and Medication</a:t>
            </a:r>
          </a:p>
        </p:txBody>
      </p:sp>
      <p:sp>
        <p:nvSpPr>
          <p:cNvPr id="20" name="Card Hook"/>
          <p:cNvSpPr/>
          <p:nvPr/>
        </p:nvSpPr>
        <p:spPr>
          <a:xfrm>
            <a:off x="600000" y="1900000"/>
            <a:ext cx="3464000" cy="4520000"/>
          </a:xfrm>
          <a:prstGeom prst="roundRect">
            <a:avLst>
              <a:gd name="adj" fmla="val 4500"/>
            </a:avLst>
          </a:prstGeom>
          <a:solidFill>
            <a:srgbClr val="23262E"/>
          </a:solidFill>
          <a:ln w="12700">
            <a:solidFill>
              <a:srgbClr val="2F344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Hook Text"/>
          <p:cNvSpPr txBox="1"/>
          <p:nvPr/>
        </p:nvSpPr>
        <p:spPr>
          <a:xfrm>
            <a:off x="880000" y="2180000"/>
            <a:ext cx="2904000" cy="3960000"/>
          </a:xfrm>
          <a:prstGeom prst="rect">
            <a:avLst/>
          </a:prstGeom>
        </p:spPr>
        <p:txBody>
          <a:bodyPr wrap="square" lIns="0" tIns="0" rIns="0" bIns="0"/>
          <a:lstStyle/>
          <a:p>
            <a:pPr>
              <a:spcAft>
                <a:spcPts val="1400"/>
              </a:spcAft>
            </a:pPr>
            <a:r>
              <a:rPr lang="en-US" sz="1400" b="1" spc="200">
                <a:solidFill>
                  <a:srgbClr val="00E5FF"/>
                </a:solidFill>
              </a:rPr>
              <a:t>THE WHY</a:t>
            </a:r>
          </a:p>
          <a:p>
            <a:pPr>
              <a:lnSpc>
                <a:spcPct val="118000"/>
              </a:lnSpc>
            </a:pPr>
            <a:r>
              <a:rPr lang="en-US" sz="1600">
                <a:solidFill>
                  <a:srgbClr val="E4E8EF"/>
                </a:solidFill>
              </a:rPr>
              <a:t>We live in an age of smart cars and smart homes, yet the most critical part of our daily health-medication is still managed with nothing but paper calendars and human memory.</a:t>
            </a:r>
          </a:p>
        </p:txBody>
      </p:sp>
      <p:sp>
        <p:nvSpPr>
          <p:cNvPr id="30" name="Card Statistic"/>
          <p:cNvSpPr/>
          <p:nvPr/>
        </p:nvSpPr>
        <p:spPr>
          <a:xfrm>
            <a:off x="4364000" y="1900000"/>
            <a:ext cx="3464000" cy="4520000"/>
          </a:xfrm>
          <a:prstGeom prst="roundRect">
            <a:avLst>
              <a:gd name="adj" fmla="val 4500"/>
            </a:avLst>
          </a:prstGeom>
          <a:solidFill>
            <a:srgbClr val="1B1E25"/>
          </a:solidFill>
          <a:ln w="19050">
            <a:solidFill>
              <a:srgbClr val="00E5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Statistic Text"/>
          <p:cNvSpPr txBox="1"/>
          <p:nvPr/>
        </p:nvSpPr>
        <p:spPr>
          <a:xfrm>
            <a:off x="4644000" y="2180000"/>
            <a:ext cx="2904000" cy="3960000"/>
          </a:xfrm>
          <a:prstGeom prst="rect">
            <a:avLst/>
          </a:prstGeom>
        </p:spPr>
        <p:txBody>
          <a:bodyPr wrap="square" lIns="0" tIns="0" rIns="0" bIns="0"/>
          <a:lstStyle/>
          <a:p>
            <a:pPr>
              <a:spcAft>
                <a:spcPts val="600"/>
              </a:spcAft>
            </a:pPr>
            <a:r>
              <a:rPr lang="en-US" sz="1400" b="1" spc="200">
                <a:solidFill>
                  <a:srgbClr val="00E5FF"/>
                </a:solidFill>
              </a:rPr>
              <a:t>THE STATISTIC</a:t>
            </a:r>
          </a:p>
          <a:p>
            <a:pPr>
              <a:lnSpc>
                <a:spcPct val="90000"/>
              </a:lnSpc>
            </a:pPr>
            <a:r>
              <a:rPr lang="en-US" sz="5400" b="1">
                <a:solidFill>
                  <a:srgbClr val="C6FF00"/>
                </a:solidFill>
              </a:rPr>
              <a:t>50%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lang="en-US" sz="1400">
                <a:solidFill>
                  <a:srgbClr val="AEB6C4"/>
                </a:solidFill>
              </a:rPr>
              <a:t>of patients fail to adhere to their medication regimens.</a:t>
            </a:r>
          </a:p>
          <a:p>
            <a:pPr>
              <a:lnSpc>
                <a:spcPct val="90000"/>
              </a:lnSpc>
            </a:pPr>
            <a:r>
              <a:rPr lang="en-US" sz="3600" b="1">
                <a:solidFill>
                  <a:srgbClr val="C6FF00"/>
                </a:solidFill>
              </a:rPr>
              <a:t>10%</a:t>
            </a:r>
          </a:p>
          <a:p>
            <a:pPr>
              <a:lnSpc>
                <a:spcPct val="108000"/>
              </a:lnSpc>
            </a:pPr>
            <a:r>
              <a:rPr lang="en-US" sz="1400">
                <a:solidFill>
                  <a:srgbClr val="AEB6C4"/>
                </a:solidFill>
              </a:rPr>
              <a:t>of all elderly hospital admissions trace back to </a:t>
            </a:r>
            <a:r>
              <a:rPr lang="en-US" sz="1400" err="1">
                <a:solidFill>
                  <a:srgbClr val="AEB6C4"/>
                </a:solidFill>
              </a:rPr>
              <a:t>it,a</a:t>
            </a:r>
            <a:r>
              <a:rPr lang="en-US" sz="1400">
                <a:solidFill>
                  <a:srgbClr val="AEB6C4"/>
                </a:solidFill>
              </a:rPr>
              <a:t> global health crisis, not simple forgetfulness.</a:t>
            </a:r>
          </a:p>
        </p:txBody>
      </p:sp>
      <p:sp>
        <p:nvSpPr>
          <p:cNvPr id="40" name="Card Solution"/>
          <p:cNvSpPr/>
          <p:nvPr/>
        </p:nvSpPr>
        <p:spPr>
          <a:xfrm>
            <a:off x="8128000" y="1900000"/>
            <a:ext cx="3464000" cy="4520000"/>
          </a:xfrm>
          <a:prstGeom prst="roundRect">
            <a:avLst>
              <a:gd name="adj" fmla="val 4500"/>
            </a:avLst>
          </a:prstGeom>
          <a:solidFill>
            <a:srgbClr val="23262E"/>
          </a:solidFill>
          <a:ln w="12700">
            <a:solidFill>
              <a:srgbClr val="2F344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1" name="Solution Text"/>
          <p:cNvSpPr txBox="1"/>
          <p:nvPr/>
        </p:nvSpPr>
        <p:spPr>
          <a:xfrm>
            <a:off x="8408000" y="2180000"/>
            <a:ext cx="2904000" cy="3960000"/>
          </a:xfrm>
          <a:prstGeom prst="rect">
            <a:avLst/>
          </a:prstGeom>
        </p:spPr>
        <p:txBody>
          <a:bodyPr wrap="square" lIns="0" tIns="0" rIns="0" bIns="0"/>
          <a:lstStyle/>
          <a:p>
            <a:pPr>
              <a:spcAft>
                <a:spcPts val="1400"/>
              </a:spcAft>
            </a:pPr>
            <a:r>
              <a:rPr lang="en-US" sz="1400" b="1" spc="200">
                <a:solidFill>
                  <a:srgbClr val="C6FF00"/>
                </a:solidFill>
              </a:rPr>
              <a:t>THE SOLUTION</a:t>
            </a:r>
          </a:p>
          <a:p>
            <a:pPr>
              <a:lnSpc>
                <a:spcPct val="118000"/>
              </a:lnSpc>
            </a:pPr>
            <a:r>
              <a:rPr lang="en-US" sz="1600" b="1">
                <a:solidFill>
                  <a:srgbClr val="F5F7FA"/>
                </a:solidFill>
              </a:rPr>
              <a:t>CapConnect</a:t>
            </a:r>
            <a:r>
              <a:rPr lang="en-US" sz="1600">
                <a:solidFill>
                  <a:srgbClr val="E4E8EF"/>
                </a:solidFill>
              </a:rPr>
              <a:t> bridges the gap between memory and technology. By turning a passive medicine bottle into an active health assistant, we stop the cycle of missed doses and accidental overdoses before they happen.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presetID="10" presetClass="entr" presetSubtype="0" fill="hold" nodeType="afterEffect">
                      <p:stCondLst>
                        <p:cond delay="20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6" presetID="10" presetClass="entr" presetSubtype="0" fill="hold" nodeType="afterEffect">
                      <p:stCondLst>
                        <p:cond delay="200"/>
                      </p:stCondLst>
                      <p:childTnLst>
                        <p:set>
                          <p:cBhvr>
                            <p:cTn id="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8" dur="5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9" presetID="10" presetClass="entr" presetSubtype="0" fill="hold" nodeType="afterEffect">
                      <p:stCondLst>
                        <p:cond delay="200"/>
                      </p:stCondLst>
                      <p:childTnLst>
                        <p:set>
                          <p:cBhvr>
                            <p:cTn id="1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"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12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1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4"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  <p:par>
                    <p:cTn id="15" presetID="10" presetClass="entr" presetSubtype="0" fill="hold" nodeType="afterEffect">
                      <p:stCondLst>
                        <p:cond delay="200"/>
                      </p:stCondLst>
                      <p:childTnLst>
                        <p:set>
                          <p:cBhvr>
                            <p:cTn id="1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7" dur="50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  <p:par>
                    <p:cTn id="18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1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0" dur="5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  <p:par>
                    <p:cTn id="21" presetID="10" presetClass="entr" presetSubtype="0" fill="hold" nodeType="afterEffect">
                      <p:stCondLst>
                        <p:cond delay="200"/>
                      </p:stCondLst>
                      <p:childTnLst>
                        <p:set>
                          <p:cBhvr>
                            <p:cTn id="2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3" dur="500"/>
                            <p:tgtEl>
                              <p:spTgt spid="40"/>
                            </p:tgtEl>
                          </p:cBhvr>
                        </p:animEffect>
                      </p:childTnLst>
                    </p:cTn>
                  </p:par>
                  <p:par>
                    <p:cTn id="24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2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6" dur="500"/>
                            <p:tgtEl>
                              <p:spTgt spid="41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1707FC24-6981-43D9-B525-C7832BA22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36884" y="311449"/>
            <a:ext cx="4332307" cy="6179552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263412-5140-901F-0BAD-9913E8D198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2950" y="742951"/>
            <a:ext cx="3476625" cy="496252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600" kern="1200" err="1">
                <a:solidFill>
                  <a:srgbClr val="92D050"/>
                </a:solidFill>
                <a:latin typeface="+mj-lt"/>
                <a:ea typeface="+mj-ea"/>
                <a:cs typeface="+mj-cs"/>
              </a:rPr>
              <a:t>CapConnect</a:t>
            </a:r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is more than just a bottle cap; it is a vital bridge between a patient's health discipline and their family’s peace of mind. It doesn’t just transform an </a:t>
            </a:r>
            <a:r>
              <a:rPr lang="en-US" sz="2600" kern="1200">
                <a:solidFill>
                  <a:srgbClr val="92D050"/>
                </a:solidFill>
                <a:latin typeface="+mj-lt"/>
                <a:ea typeface="+mj-ea"/>
                <a:cs typeface="+mj-cs"/>
              </a:rPr>
              <a:t>'invisible</a:t>
            </a:r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' challenge into a 'visible' solution it </a:t>
            </a:r>
            <a:r>
              <a:rPr lang="en-US" sz="2600" kern="1200">
                <a:solidFill>
                  <a:srgbClr val="92D050"/>
                </a:solidFill>
                <a:latin typeface="+mj-lt"/>
                <a:ea typeface="+mj-ea"/>
                <a:cs typeface="+mj-cs"/>
              </a:rPr>
              <a:t>saves lives</a:t>
            </a:r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.</a:t>
            </a:r>
          </a:p>
        </p:txBody>
      </p:sp>
      <p:pic>
        <p:nvPicPr>
          <p:cNvPr id="6" name="Video 5">
            <a:hlinkClick r:id="" action="ppaction://media"/>
            <a:extLst>
              <a:ext uri="{FF2B5EF4-FFF2-40B4-BE49-F238E27FC236}">
                <a16:creationId xmlns:a16="http://schemas.microsoft.com/office/drawing/2014/main" id="{484419FB-91B1-8AF1-A719-B2116D6FEEB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490196" y="492573"/>
            <a:ext cx="5880796" cy="5880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229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43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100000">
                <p:cTn id="10" repeatCount="indefinite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5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image depicts an ESP32-based smart bottle opener/closer, which is controlled via a mobile app. The device includes a servo motor for opening and closing the bottle, a 3D printed mechanism for accuracy, and is powered by USB. It features energy efficiency, a secure and reliable operation, and an integrated design for ease of use.&#10;&#10;AI-generated content may be incorrect.">
            <a:extLst>
              <a:ext uri="{FF2B5EF4-FFF2-40B4-BE49-F238E27FC236}">
                <a16:creationId xmlns:a16="http://schemas.microsoft.com/office/drawing/2014/main" id="{DD81706A-1873-B4F5-82B8-9DEC8B26EC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6113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81D"/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Kicker"/>
          <p:cNvSpPr txBox="1"/>
          <p:nvPr/>
        </p:nvSpPr>
        <p:spPr>
          <a:xfrm>
            <a:off x="600000" y="430000"/>
            <a:ext cx="10992000" cy="330000"/>
          </a:xfrm>
          <a:prstGeom prst="rect">
            <a:avLst/>
          </a:prstGeom>
        </p:spPr>
        <p:txBody>
          <a:bodyPr wrap="square" lIns="0" tIns="0" rIns="0" bIns="0"/>
          <a:lstStyle/>
          <a:p>
            <a:r>
              <a:rPr lang="en-US" sz="1400" b="1" spc="320">
                <a:solidFill>
                  <a:srgbClr val="00E5FF"/>
                </a:solidFill>
              </a:rPr>
              <a:t>CAPCONNECT  |  THE WORKING CONCEPT</a:t>
            </a:r>
          </a:p>
        </p:txBody>
      </p:sp>
      <p:sp>
        <p:nvSpPr>
          <p:cNvPr id="12" name="Title"/>
          <p:cNvSpPr txBox="1"/>
          <p:nvPr/>
        </p:nvSpPr>
        <p:spPr>
          <a:xfrm>
            <a:off x="600000" y="780000"/>
            <a:ext cx="10992000" cy="840000"/>
          </a:xfrm>
          <a:prstGeom prst="rect">
            <a:avLst/>
          </a:prstGeom>
        </p:spPr>
        <p:txBody>
          <a:bodyPr wrap="square" lIns="0" tIns="0" rIns="0" bIns="0"/>
          <a:lstStyle/>
          <a:p>
            <a:r>
              <a:rPr lang="en-US" sz="3600" b="1">
                <a:solidFill>
                  <a:srgbClr val="F5F7FA"/>
                </a:solidFill>
              </a:rPr>
              <a:t>Sensing, Alerting, and Built for Adoption</a:t>
            </a:r>
          </a:p>
        </p:txBody>
      </p:sp>
      <p:sp>
        <p:nvSpPr>
          <p:cNvPr id="13" name="Subhead"/>
          <p:cNvSpPr txBox="1"/>
          <p:nvPr/>
        </p:nvSpPr>
        <p:spPr>
          <a:xfrm>
            <a:off x="600000" y="1560000"/>
            <a:ext cx="10992000" cy="300000"/>
          </a:xfrm>
          <a:prstGeom prst="rect">
            <a:avLst/>
          </a:prstGeom>
        </p:spPr>
        <p:txBody>
          <a:bodyPr wrap="square" lIns="0" tIns="0" rIns="0" bIns="0"/>
          <a:lstStyle/>
          <a:p>
            <a:r>
              <a:rPr lang="en-US" sz="1500">
                <a:solidFill>
                  <a:srgbClr val="AEB6C4"/>
                </a:solidFill>
              </a:rPr>
              <a:t>A working concept that pairs simple IoT sensing with a caregiver notification system—designed for easy adoption by elderly users.</a:t>
            </a:r>
          </a:p>
        </p:txBody>
      </p:sp>
      <p:sp>
        <p:nvSpPr>
          <p:cNvPr id="20" name="Card Sensing"/>
          <p:cNvSpPr/>
          <p:nvPr/>
        </p:nvSpPr>
        <p:spPr>
          <a:xfrm>
            <a:off x="600000" y="2080000"/>
            <a:ext cx="3464000" cy="4340000"/>
          </a:xfrm>
          <a:prstGeom prst="roundRect">
            <a:avLst>
              <a:gd name="adj" fmla="val 4500"/>
            </a:avLst>
          </a:prstGeom>
          <a:solidFill>
            <a:srgbClr val="23262E"/>
          </a:solidFill>
          <a:ln w="12700">
            <a:solidFill>
              <a:srgbClr val="2F344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Sensing Text"/>
          <p:cNvSpPr txBox="1"/>
          <p:nvPr/>
        </p:nvSpPr>
        <p:spPr>
          <a:xfrm>
            <a:off x="880000" y="2360000"/>
            <a:ext cx="2904000" cy="3780000"/>
          </a:xfrm>
          <a:prstGeom prst="rect">
            <a:avLst/>
          </a:prstGeom>
        </p:spPr>
        <p:txBody>
          <a:bodyPr wrap="square" lIns="0" tIns="0" rIns="0" bIns="0"/>
          <a:lstStyle/>
          <a:p>
            <a:pPr>
              <a:spcAft>
                <a:spcPts val="800"/>
              </a:spcAft>
            </a:pPr>
            <a:r>
              <a:rPr lang="en-US" sz="3200" b="1">
                <a:solidFill>
                  <a:srgbClr val="00E5FF"/>
                </a:solidFill>
              </a:rPr>
              <a:t>01</a:t>
            </a:r>
          </a:p>
          <a:p>
            <a:pPr>
              <a:spcAft>
                <a:spcPts val="900"/>
              </a:spcAft>
            </a:pPr>
            <a:r>
              <a:rPr lang="en-US" sz="1600" b="1" spc="100">
                <a:solidFill>
                  <a:srgbClr val="00E5FF"/>
                </a:solidFill>
              </a:rPr>
              <a:t>SIMPLE IoT SENSING</a:t>
            </a:r>
          </a:p>
          <a:p>
            <a:pPr>
              <a:lnSpc>
                <a:spcPct val="118000"/>
              </a:lnSpc>
            </a:pPr>
            <a:r>
              <a:rPr lang="en-US" sz="1500">
                <a:solidFill>
                  <a:srgbClr val="E4E8EF"/>
                </a:solidFill>
              </a:rPr>
              <a:t>A low-cost sensor in the bottle cap quietly detects whether a dose was taken—no apps to learn and no buttons to remember.</a:t>
            </a:r>
          </a:p>
        </p:txBody>
      </p:sp>
      <p:sp>
        <p:nvSpPr>
          <p:cNvPr id="30" name="Card Alerts"/>
          <p:cNvSpPr/>
          <p:nvPr/>
        </p:nvSpPr>
        <p:spPr>
          <a:xfrm>
            <a:off x="4364000" y="2080000"/>
            <a:ext cx="3464000" cy="4340000"/>
          </a:xfrm>
          <a:prstGeom prst="roundRect">
            <a:avLst>
              <a:gd name="adj" fmla="val 4500"/>
            </a:avLst>
          </a:prstGeom>
          <a:solidFill>
            <a:srgbClr val="1B1E25"/>
          </a:solidFill>
          <a:ln w="19050">
            <a:solidFill>
              <a:srgbClr val="00E5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Alerts Text"/>
          <p:cNvSpPr txBox="1"/>
          <p:nvPr/>
        </p:nvSpPr>
        <p:spPr>
          <a:xfrm>
            <a:off x="4644000" y="2360000"/>
            <a:ext cx="2904000" cy="3780000"/>
          </a:xfrm>
          <a:prstGeom prst="rect">
            <a:avLst/>
          </a:prstGeom>
        </p:spPr>
        <p:txBody>
          <a:bodyPr wrap="square" lIns="0" tIns="0" rIns="0" bIns="0"/>
          <a:lstStyle/>
          <a:p>
            <a:pPr>
              <a:spcAft>
                <a:spcPts val="800"/>
              </a:spcAft>
            </a:pPr>
            <a:r>
              <a:rPr lang="en-US" sz="3200" b="1">
                <a:solidFill>
                  <a:srgbClr val="C6FF00"/>
                </a:solidFill>
              </a:rPr>
              <a:t>02</a:t>
            </a:r>
          </a:p>
          <a:p>
            <a:pPr>
              <a:spcAft>
                <a:spcPts val="900"/>
              </a:spcAft>
            </a:pPr>
            <a:r>
              <a:rPr lang="en-US" sz="1600" b="1" spc="100">
                <a:solidFill>
                  <a:srgbClr val="C6FF00"/>
                </a:solidFill>
              </a:rPr>
              <a:t>CAREGIVER ALERTS</a:t>
            </a:r>
          </a:p>
          <a:p>
            <a:pPr>
              <a:lnSpc>
                <a:spcPct val="118000"/>
              </a:lnSpc>
            </a:pPr>
            <a:r>
              <a:rPr lang="en-US" sz="1500">
                <a:solidFill>
                  <a:srgbClr val="E4E8EF"/>
                </a:solidFill>
              </a:rPr>
              <a:t>If a dose is missed, the system automatically notifies a family member or caregiver—turning a silent lapse into a timely nudge.</a:t>
            </a:r>
          </a:p>
        </p:txBody>
      </p:sp>
      <p:sp>
        <p:nvSpPr>
          <p:cNvPr id="40" name="Card Adoption"/>
          <p:cNvSpPr/>
          <p:nvPr/>
        </p:nvSpPr>
        <p:spPr>
          <a:xfrm>
            <a:off x="8128000" y="2080000"/>
            <a:ext cx="3464000" cy="4340000"/>
          </a:xfrm>
          <a:prstGeom prst="roundRect">
            <a:avLst>
              <a:gd name="adj" fmla="val 4500"/>
            </a:avLst>
          </a:prstGeom>
          <a:solidFill>
            <a:srgbClr val="23262E"/>
          </a:solidFill>
          <a:ln w="12700">
            <a:solidFill>
              <a:srgbClr val="2F344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1" name="Adoption Text"/>
          <p:cNvSpPr txBox="1"/>
          <p:nvPr/>
        </p:nvSpPr>
        <p:spPr>
          <a:xfrm>
            <a:off x="8408000" y="2360000"/>
            <a:ext cx="2904000" cy="3780000"/>
          </a:xfrm>
          <a:prstGeom prst="rect">
            <a:avLst/>
          </a:prstGeom>
        </p:spPr>
        <p:txBody>
          <a:bodyPr wrap="square" lIns="0" tIns="0" rIns="0" bIns="0"/>
          <a:lstStyle/>
          <a:p>
            <a:pPr>
              <a:spcAft>
                <a:spcPts val="800"/>
              </a:spcAft>
            </a:pPr>
            <a:r>
              <a:rPr lang="en-US" sz="3200" b="1">
                <a:solidFill>
                  <a:srgbClr val="00E5FF"/>
                </a:solidFill>
              </a:rPr>
              <a:t>03</a:t>
            </a:r>
          </a:p>
          <a:p>
            <a:pPr>
              <a:spcAft>
                <a:spcPts val="900"/>
              </a:spcAft>
            </a:pPr>
            <a:r>
              <a:rPr lang="en-US" sz="1600" b="1" spc="100">
                <a:solidFill>
                  <a:srgbClr val="00E5FF"/>
                </a:solidFill>
              </a:rPr>
              <a:t>BUILT FOR ELDERLY USERS</a:t>
            </a:r>
          </a:p>
          <a:p>
            <a:pPr>
              <a:lnSpc>
                <a:spcPct val="118000"/>
              </a:lnSpc>
            </a:pPr>
            <a:r>
              <a:rPr lang="en-US" sz="1500">
                <a:solidFill>
                  <a:srgbClr val="E4E8EF"/>
                </a:solidFill>
              </a:rPr>
              <a:t>Every design choice favors ease of adoption—it works with the patient’s existing routine, so there’s nothing new to learn.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presetID="10" presetClass="entr" presetSubtype="0" fill="hold" nodeType="afterEffect">
                      <p:stCondLst>
                        <p:cond delay="20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6" presetID="10" presetClass="entr" presetSubtype="0" fill="hold" nodeType="afterEffect">
                      <p:stCondLst>
                        <p:cond delay="200"/>
                      </p:stCondLst>
                      <p:childTnLst>
                        <p:set>
                          <p:cBhvr>
                            <p:cTn id="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8" dur="5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9" presetID="10" presetClass="entr" presetSubtype="0" fill="hold" nodeType="afterEffect">
                      <p:stCondLst>
                        <p:cond delay="200"/>
                      </p:stCondLst>
                      <p:childTnLst>
                        <p:set>
                          <p:cBhvr>
                            <p:cTn id="1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"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  <p:par>
                    <p:cTn id="12" presetID="10" presetClass="entr" presetSubtype="0" fill="hold" nodeType="afterEffect">
                      <p:stCondLst>
                        <p:cond delay="200"/>
                      </p:stCondLst>
                      <p:childTnLst>
                        <p:set>
                          <p:cBhvr>
                            <p:cTn id="1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4"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15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1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7"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  <p:par>
                    <p:cTn id="18" presetID="10" presetClass="entr" presetSubtype="0" fill="hold" nodeType="afterEffect">
                      <p:stCondLst>
                        <p:cond delay="200"/>
                      </p:stCondLst>
                      <p:childTnLst>
                        <p:set>
                          <p:cBhvr>
                            <p:cTn id="1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0" dur="50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  <p:par>
                    <p:cTn id="21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2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3" dur="5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  <p:par>
                    <p:cTn id="24" presetID="10" presetClass="entr" presetSubtype="0" fill="hold" nodeType="afterEffect">
                      <p:stCondLst>
                        <p:cond delay="200"/>
                      </p:stCondLst>
                      <p:childTnLst>
                        <p:set>
                          <p:cBhvr>
                            <p:cTn id="2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6" dur="500"/>
                            <p:tgtEl>
                              <p:spTgt spid="40"/>
                            </p:tgtEl>
                          </p:cBhvr>
                        </p:animEffect>
                      </p:childTnLst>
                    </p:cTn>
                  </p:par>
                  <p:par>
                    <p:cTn id="27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2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9" dur="500"/>
                            <p:tgtEl>
                              <p:spTgt spid="41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81D"/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Kicker"/>
          <p:cNvSpPr txBox="1"/>
          <p:nvPr/>
        </p:nvSpPr>
        <p:spPr>
          <a:xfrm>
            <a:off x="600000" y="430000"/>
            <a:ext cx="10992000" cy="330000"/>
          </a:xfrm>
          <a:prstGeom prst="rect">
            <a:avLst/>
          </a:prstGeom>
        </p:spPr>
        <p:txBody>
          <a:bodyPr wrap="square" lIns="0" tIns="0" rIns="0" bIns="0"/>
          <a:lstStyle/>
          <a:p>
            <a:r>
              <a:rPr lang="en-US" sz="1400" b="1" spc="320">
                <a:solidFill>
                  <a:srgbClr val="00E5FF"/>
                </a:solidFill>
              </a:rPr>
              <a:t>CAPCONNECT  |  THE SOLUTION</a:t>
            </a:r>
          </a:p>
        </p:txBody>
      </p:sp>
      <p:sp>
        <p:nvSpPr>
          <p:cNvPr id="12" name="Title"/>
          <p:cNvSpPr txBox="1"/>
          <p:nvPr/>
        </p:nvSpPr>
        <p:spPr>
          <a:xfrm>
            <a:off x="600000" y="780000"/>
            <a:ext cx="10992000" cy="840000"/>
          </a:xfrm>
          <a:prstGeom prst="rect">
            <a:avLst/>
          </a:prstGeom>
        </p:spPr>
        <p:txBody>
          <a:bodyPr wrap="square" lIns="0" tIns="0" rIns="0" bIns="0"/>
          <a:lstStyle/>
          <a:p>
            <a:r>
              <a:rPr lang="en-US" sz="3600" b="1">
                <a:solidFill>
                  <a:srgbClr val="F5F7FA"/>
                </a:solidFill>
              </a:rPr>
              <a:t>More Than a Cap—A Life-Saving Companion</a:t>
            </a:r>
          </a:p>
        </p:txBody>
      </p:sp>
      <p:sp>
        <p:nvSpPr>
          <p:cNvPr id="20" name="Narrative Card"/>
          <p:cNvSpPr/>
          <p:nvPr/>
        </p:nvSpPr>
        <p:spPr>
          <a:xfrm>
            <a:off x="600000" y="1900000"/>
            <a:ext cx="4400000" cy="4520000"/>
          </a:xfrm>
          <a:prstGeom prst="roundRect">
            <a:avLst>
              <a:gd name="adj" fmla="val 4500"/>
            </a:avLst>
          </a:prstGeom>
          <a:solidFill>
            <a:srgbClr val="1B1E25"/>
          </a:solidFill>
          <a:ln w="19050">
            <a:solidFill>
              <a:srgbClr val="00E5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Narrative Text"/>
          <p:cNvSpPr txBox="1"/>
          <p:nvPr/>
        </p:nvSpPr>
        <p:spPr>
          <a:xfrm>
            <a:off x="880000" y="2200000"/>
            <a:ext cx="3840000" cy="39200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lang="en-US" sz="1700" b="1">
                <a:solidFill>
                  <a:srgbClr val="F5F7FA"/>
                </a:solidFill>
              </a:rPr>
              <a:t>CapConnect bridges the gap between a patient’s daily medication routine and their family’s peace of mind.</a:t>
            </a:r>
          </a:p>
          <a:p>
            <a:pPr>
              <a:lnSpc>
                <a:spcPct val="120000"/>
              </a:lnSpc>
            </a:pPr>
            <a:r>
              <a:rPr lang="en-US" sz="1500">
                <a:solidFill>
                  <a:srgbClr val="E4E8EF"/>
                </a:solidFill>
              </a:rPr>
              <a:t>By combining simplicity with smart technology, it turns an invisible problem into a visible, reliable solution—keeping patients safe, independent, and healthier every day.</a:t>
            </a:r>
          </a:p>
        </p:txBody>
      </p:sp>
      <p:sp>
        <p:nvSpPr>
          <p:cNvPr id="30" name="Feature 1 Card"/>
          <p:cNvSpPr/>
          <p:nvPr/>
        </p:nvSpPr>
        <p:spPr>
          <a:xfrm>
            <a:off x="5300000" y="1900000"/>
            <a:ext cx="6292000" cy="1400000"/>
          </a:xfrm>
          <a:prstGeom prst="roundRect">
            <a:avLst>
              <a:gd name="adj" fmla="val 9000"/>
            </a:avLst>
          </a:prstGeom>
          <a:solidFill>
            <a:srgbClr val="23262E"/>
          </a:solidFill>
          <a:ln w="12700">
            <a:solidFill>
              <a:srgbClr val="2F344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Feature 1 Accent"/>
          <p:cNvSpPr/>
          <p:nvPr/>
        </p:nvSpPr>
        <p:spPr>
          <a:xfrm>
            <a:off x="5300000" y="1900000"/>
            <a:ext cx="90000" cy="1400000"/>
          </a:xfrm>
          <a:prstGeom prst="rect">
            <a:avLst/>
          </a:prstGeom>
          <a:solidFill>
            <a:srgbClr val="00E5FF"/>
          </a:solidFill>
        </p:spPr>
        <p:txBody>
          <a:bodyPr/>
          <a:lstStyle/>
          <a:p>
            <a:endParaRPr lang="en-US"/>
          </a:p>
        </p:txBody>
      </p:sp>
      <p:sp>
        <p:nvSpPr>
          <p:cNvPr id="32" name="Feature 1 Text"/>
          <p:cNvSpPr txBox="1"/>
          <p:nvPr/>
        </p:nvSpPr>
        <p:spPr>
          <a:xfrm>
            <a:off x="5640000" y="2080000"/>
            <a:ext cx="5712000" cy="10400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>
              <a:spcAft>
                <a:spcPts val="500"/>
              </a:spcAft>
            </a:pPr>
            <a:r>
              <a:rPr lang="en-US" sz="1600" b="1" spc="100">
                <a:solidFill>
                  <a:srgbClr val="00E5FF"/>
                </a:solidFill>
              </a:rPr>
              <a:t>VISUAL SIGNALS</a:t>
            </a:r>
          </a:p>
          <a:p>
            <a:pPr>
              <a:lnSpc>
                <a:spcPct val="112000"/>
              </a:lnSpc>
            </a:pPr>
            <a:r>
              <a:rPr lang="en-US" sz="1400">
                <a:solidFill>
                  <a:srgbClr val="E4E8EF"/>
                </a:solidFill>
              </a:rPr>
              <a:t>Clear at-a-glance indicators show whether today’s dose has already been taken—removing confusion and preventing double doses.</a:t>
            </a:r>
          </a:p>
        </p:txBody>
      </p:sp>
      <p:sp>
        <p:nvSpPr>
          <p:cNvPr id="40" name="Feature 2 Card"/>
          <p:cNvSpPr/>
          <p:nvPr/>
        </p:nvSpPr>
        <p:spPr>
          <a:xfrm>
            <a:off x="5300000" y="3460000"/>
            <a:ext cx="6292000" cy="1400000"/>
          </a:xfrm>
          <a:prstGeom prst="roundRect">
            <a:avLst>
              <a:gd name="adj" fmla="val 9000"/>
            </a:avLst>
          </a:prstGeom>
          <a:solidFill>
            <a:srgbClr val="23262E"/>
          </a:solidFill>
          <a:ln w="12700">
            <a:solidFill>
              <a:srgbClr val="2F344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1" name="Feature 2 Accent"/>
          <p:cNvSpPr/>
          <p:nvPr/>
        </p:nvSpPr>
        <p:spPr>
          <a:xfrm>
            <a:off x="5300000" y="3460000"/>
            <a:ext cx="90000" cy="1400000"/>
          </a:xfrm>
          <a:prstGeom prst="rect">
            <a:avLst/>
          </a:prstGeom>
          <a:solidFill>
            <a:srgbClr val="C6FF00"/>
          </a:solidFill>
        </p:spPr>
        <p:txBody>
          <a:bodyPr/>
          <a:lstStyle/>
          <a:p>
            <a:endParaRPr lang="en-US"/>
          </a:p>
        </p:txBody>
      </p:sp>
      <p:sp>
        <p:nvSpPr>
          <p:cNvPr id="42" name="Feature 2 Text"/>
          <p:cNvSpPr txBox="1"/>
          <p:nvPr/>
        </p:nvSpPr>
        <p:spPr>
          <a:xfrm>
            <a:off x="5640000" y="3640000"/>
            <a:ext cx="5712000" cy="10400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>
              <a:spcAft>
                <a:spcPts val="500"/>
              </a:spcAft>
            </a:pPr>
            <a:r>
              <a:rPr lang="en-US" sz="1600" b="1" spc="100">
                <a:solidFill>
                  <a:srgbClr val="C6FF00"/>
                </a:solidFill>
              </a:rPr>
              <a:t>VOICE ALERTS</a:t>
            </a:r>
          </a:p>
          <a:p>
            <a:pPr>
              <a:lnSpc>
                <a:spcPct val="112000"/>
              </a:lnSpc>
            </a:pPr>
            <a:r>
              <a:rPr lang="en-US" sz="1400">
                <a:solidFill>
                  <a:srgbClr val="E4E8EF"/>
                </a:solidFill>
              </a:rPr>
              <a:t>Spoken reminders prompt the user at the right moment, making the routine effortless for those who struggle with screens.</a:t>
            </a:r>
          </a:p>
        </p:txBody>
      </p:sp>
      <p:sp>
        <p:nvSpPr>
          <p:cNvPr id="50" name="Feature 3 Card"/>
          <p:cNvSpPr/>
          <p:nvPr/>
        </p:nvSpPr>
        <p:spPr>
          <a:xfrm>
            <a:off x="5300000" y="5020000"/>
            <a:ext cx="6292000" cy="1400000"/>
          </a:xfrm>
          <a:prstGeom prst="roundRect">
            <a:avLst>
              <a:gd name="adj" fmla="val 9000"/>
            </a:avLst>
          </a:prstGeom>
          <a:solidFill>
            <a:srgbClr val="23262E"/>
          </a:solidFill>
          <a:ln w="12700">
            <a:solidFill>
              <a:srgbClr val="2F344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1" name="Feature 3 Accent"/>
          <p:cNvSpPr/>
          <p:nvPr/>
        </p:nvSpPr>
        <p:spPr>
          <a:xfrm>
            <a:off x="5300000" y="5020000"/>
            <a:ext cx="90000" cy="1400000"/>
          </a:xfrm>
          <a:prstGeom prst="rect">
            <a:avLst/>
          </a:prstGeom>
          <a:solidFill>
            <a:srgbClr val="00E5FF"/>
          </a:solidFill>
        </p:spPr>
        <p:txBody>
          <a:bodyPr/>
          <a:lstStyle/>
          <a:p>
            <a:endParaRPr lang="en-US"/>
          </a:p>
        </p:txBody>
      </p:sp>
      <p:sp>
        <p:nvSpPr>
          <p:cNvPr id="52" name="Feature 3 Text"/>
          <p:cNvSpPr txBox="1"/>
          <p:nvPr/>
        </p:nvSpPr>
        <p:spPr>
          <a:xfrm>
            <a:off x="5640000" y="5200000"/>
            <a:ext cx="5712000" cy="10400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>
              <a:spcAft>
                <a:spcPts val="500"/>
              </a:spcAft>
            </a:pPr>
            <a:r>
              <a:rPr lang="en-US" sz="1600" b="1" spc="100">
                <a:solidFill>
                  <a:srgbClr val="00E5FF"/>
                </a:solidFill>
              </a:rPr>
              <a:t>REAL-TIME TRACKING</a:t>
            </a:r>
          </a:p>
          <a:p>
            <a:pPr>
              <a:lnSpc>
                <a:spcPct val="112000"/>
              </a:lnSpc>
            </a:pPr>
            <a:r>
              <a:rPr lang="en-US" sz="1400">
                <a:solidFill>
                  <a:srgbClr val="E4E8EF"/>
                </a:solidFill>
              </a:rPr>
              <a:t>Every action is recorded and synced to a connected app, so caregivers stay informed and reassured at all times.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presetID="10" presetClass="entr" presetSubtype="0" fill="hold" nodeType="afterEffect">
                      <p:stCondLst>
                        <p:cond delay="20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6" presetID="10" presetClass="entr" presetSubtype="0" fill="hold" nodeType="afterEffect">
                      <p:stCondLst>
                        <p:cond delay="200"/>
                      </p:stCondLst>
                      <p:childTnLst>
                        <p:set>
                          <p:cBhvr>
                            <p:cTn id="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8" dur="5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9" presetID="10" presetClass="entr" presetSubtype="0" fill="hold" nodeType="afterEffect">
                      <p:stCondLst>
                        <p:cond delay="200"/>
                      </p:stCondLst>
                      <p:childTnLst>
                        <p:set>
                          <p:cBhvr>
                            <p:cTn id="1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"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12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1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4"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  <p:par>
                    <p:cTn id="15" presetID="10" presetClass="entr" presetSubtype="0" fill="hold" nodeType="afterEffect">
                      <p:stCondLst>
                        <p:cond delay="200"/>
                      </p:stCondLst>
                      <p:childTnLst>
                        <p:set>
                          <p:cBhvr>
                            <p:cTn id="1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7" dur="50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  <p:par>
                    <p:cTn id="18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1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0" dur="5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  <p:par>
                    <p:cTn id="21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2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3" dur="5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  <p:par>
                    <p:cTn id="24" presetID="10" presetClass="entr" presetSubtype="0" fill="hold" nodeType="afterEffect">
                      <p:stCondLst>
                        <p:cond delay="200"/>
                      </p:stCondLst>
                      <p:childTnLst>
                        <p:set>
                          <p:cBhvr>
                            <p:cTn id="2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6" dur="500"/>
                            <p:tgtEl>
                              <p:spTgt spid="40"/>
                            </p:tgtEl>
                          </p:cBhvr>
                        </p:animEffect>
                      </p:childTnLst>
                    </p:cTn>
                  </p:par>
                  <p:par>
                    <p:cTn id="27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2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9" dur="500"/>
                            <p:tgtEl>
                              <p:spTgt spid="41"/>
                            </p:tgtEl>
                          </p:cBhvr>
                        </p:animEffect>
                      </p:childTnLst>
                    </p:cTn>
                  </p:par>
                  <p:par>
                    <p:cTn id="30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3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2" dur="500"/>
                            <p:tgtEl>
                              <p:spTgt spid="42"/>
                            </p:tgtEl>
                          </p:cBhvr>
                        </p:animEffect>
                      </p:childTnLst>
                    </p:cTn>
                  </p:par>
                  <p:par>
                    <p:cTn id="33" presetID="10" presetClass="entr" presetSubtype="0" fill="hold" nodeType="afterEffect">
                      <p:stCondLst>
                        <p:cond delay="200"/>
                      </p:stCondLst>
                      <p:childTnLst>
                        <p:set>
                          <p:cBhvr>
                            <p:cTn id="3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5" dur="500"/>
                            <p:tgtEl>
                              <p:spTgt spid="50"/>
                            </p:tgtEl>
                          </p:cBhvr>
                        </p:animEffect>
                      </p:childTnLst>
                    </p:cTn>
                  </p:par>
                  <p:par>
                    <p:cTn id="36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3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8" dur="500"/>
                            <p:tgtEl>
                              <p:spTgt spid="51"/>
                            </p:tgtEl>
                          </p:cBhvr>
                        </p:animEffect>
                      </p:childTnLst>
                    </p:cTn>
                  </p:par>
                  <p:par>
                    <p:cTn id="39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4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1" dur="500"/>
                            <p:tgtEl>
                              <p:spTgt spid="5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BEC764F54CC1B47A71BD99FC8B1AA47" ma:contentTypeVersion="10" ma:contentTypeDescription="Create a new document." ma:contentTypeScope="" ma:versionID="cac40c3fbf7ddc75c9636cdbad689597">
  <xsd:schema xmlns:xsd="http://www.w3.org/2001/XMLSchema" xmlns:xs="http://www.w3.org/2001/XMLSchema" xmlns:p="http://schemas.microsoft.com/office/2006/metadata/properties" xmlns:ns2="8b712f43-418c-48d4-af50-aa75c4713eca" xmlns:ns3="af9ae1a1-40d9-484a-8e79-5834d0c1baa5" targetNamespace="http://schemas.microsoft.com/office/2006/metadata/properties" ma:root="true" ma:fieldsID="567d6ee80e406eb8388c10f2f8ab6fd7" ns2:_="" ns3:_="">
    <xsd:import namespace="8b712f43-418c-48d4-af50-aa75c4713eca"/>
    <xsd:import namespace="af9ae1a1-40d9-484a-8e79-5834d0c1baa5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b712f43-418c-48d4-af50-aa75c4713eca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d8e3dbf5-c6ed-4cb8-a6ba-f39a75e0162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f9ae1a1-40d9-484a-8e79-5834d0c1baa5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aacb6d4d-0d6c-49bb-b619-9ccd96f686f7}" ma:internalName="TaxCatchAll" ma:showField="CatchAllData" ma:web="81372731-550b-43fe-81d7-6a007922ddf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b712f43-418c-48d4-af50-aa75c4713eca">
      <Terms xmlns="http://schemas.microsoft.com/office/infopath/2007/PartnerControls"/>
    </lcf76f155ced4ddcb4097134ff3c332f>
    <TaxCatchAll xmlns="af9ae1a1-40d9-484a-8e79-5834d0c1ba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943C3AC-9582-4160-868B-7350687CF4A1}">
  <ds:schemaRefs>
    <ds:schemaRef ds:uri="8b712f43-418c-48d4-af50-aa75c4713eca"/>
    <ds:schemaRef ds:uri="af9ae1a1-40d9-484a-8e79-5834d0c1ba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7F32095A-7C7D-4E99-A0DF-C2587F7DCB83}">
  <ds:schemaRefs>
    <ds:schemaRef ds:uri="http://purl.org/dc/terms/"/>
    <ds:schemaRef ds:uri="http://purl.org/dc/elements/1.1/"/>
    <ds:schemaRef ds:uri="http://schemas.microsoft.com/office/2006/metadata/properties"/>
    <ds:schemaRef ds:uri="http://schemas.microsoft.com/office/2006/documentManagement/types"/>
    <ds:schemaRef ds:uri="8b712f43-418c-48d4-af50-aa75c4713eca"/>
    <ds:schemaRef ds:uri="http://schemas.microsoft.com/office/infopath/2007/PartnerControls"/>
    <ds:schemaRef ds:uri="af9ae1a1-40d9-484a-8e79-5834d0c1baa5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DE885972-E1C2-444E-BFF1-3B384098981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604</Words>
  <Application>Microsoft Macintosh PowerPoint</Application>
  <PresentationFormat>Widescreen</PresentationFormat>
  <Paragraphs>60</Paragraphs>
  <Slides>7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CapConnect is more than just a bottle cap; it is a vital bridge between a patient's health discipline and their family’s peace of mind. It doesn’t just transform an 'invisible' challenge into a 'visible' solution it saves lives.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Gopi Daggumilli</dc:creator>
  <cp:lastModifiedBy>Prashant S</cp:lastModifiedBy>
  <cp:revision>6</cp:revision>
  <dcterms:created xsi:type="dcterms:W3CDTF">2026-06-16T08:27:31Z</dcterms:created>
  <dcterms:modified xsi:type="dcterms:W3CDTF">2026-06-25T05:33:42Z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0x010100EBEC764F54CC1B47A71BD99FC8B1AA47</vt:lpwstr>
  </property>
  <property fmtid="{D5CDD505-2E9C-101B-9397-08002B2CF9AE}" pid="3" name="MediaServiceImageTags">
    <vt:lpwstr/>
  </property>
</Properties>
</file>